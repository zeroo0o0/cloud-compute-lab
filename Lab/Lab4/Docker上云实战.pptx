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86" r:id="rId7"/>
    <p:sldId id="285" r:id="rId8"/>
    <p:sldId id="287" r:id="rId9"/>
    <p:sldId id="298" r:id="rId10"/>
    <p:sldId id="289" r:id="rId11"/>
    <p:sldId id="290" r:id="rId12"/>
    <p:sldId id="291" r:id="rId13"/>
    <p:sldId id="292" r:id="rId14"/>
    <p:sldId id="311" r:id="rId15"/>
    <p:sldId id="293" r:id="rId16"/>
    <p:sldId id="294" r:id="rId17"/>
    <p:sldId id="295" r:id="rId18"/>
    <p:sldId id="297" r:id="rId19"/>
    <p:sldId id="296" r:id="rId20"/>
    <p:sldId id="261" r:id="rId21"/>
    <p:sldId id="312" r:id="rId22"/>
    <p:sldId id="262" r:id="rId23"/>
    <p:sldId id="267" r:id="rId24"/>
    <p:sldId id="268" r:id="rId25"/>
    <p:sldId id="269" r:id="rId26"/>
    <p:sldId id="271" r:id="rId27"/>
    <p:sldId id="266" r:id="rId28"/>
    <p:sldId id="263" r:id="rId29"/>
    <p:sldId id="300" r:id="rId30"/>
    <p:sldId id="301" r:id="rId31"/>
    <p:sldId id="299" r:id="rId32"/>
    <p:sldId id="265" r:id="rId33"/>
    <p:sldId id="272" r:id="rId34"/>
    <p:sldId id="283" r:id="rId35"/>
    <p:sldId id="274" r:id="rId36"/>
    <p:sldId id="275" r:id="rId37"/>
    <p:sldId id="276" r:id="rId38"/>
    <p:sldId id="277" r:id="rId39"/>
    <p:sldId id="303" r:id="rId40"/>
    <p:sldId id="302" r:id="rId41"/>
    <p:sldId id="307" r:id="rId42"/>
    <p:sldId id="279" r:id="rId43"/>
    <p:sldId id="308" r:id="rId44"/>
    <p:sldId id="306" r:id="rId45"/>
    <p:sldId id="310" r:id="rId46"/>
    <p:sldId id="281" r:id="rId47"/>
    <p:sldId id="282" r:id="rId48"/>
    <p:sldId id="309" r:id="rId49"/>
    <p:sldId id="305" r:id="rId50"/>
    <p:sldId id="280" r:id="rId51"/>
    <p:sldId id="284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81" autoAdjust="0"/>
  </p:normalViewPr>
  <p:slideViewPr>
    <p:cSldViewPr snapToGrid="0" snapToObjects="1">
      <p:cViewPr>
        <p:scale>
          <a:sx n="108" d="100"/>
          <a:sy n="108" d="100"/>
        </p:scale>
        <p:origin x="124" y="1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A7D8C-8952-4422-A357-3C28D61ED54A}" type="datetimeFigureOut">
              <a:rPr lang="zh-CN" altLang="en-US" smtClean="0"/>
              <a:t>2026/5/20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33680-D499-4AB2-838F-8C474AD5FB4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016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33680-D499-4AB2-838F-8C474AD5FB40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884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Docker 上云实战</a:t>
            </a:r>
          </a:p>
          <a:p>
            <a:pPr algn="ctr">
              <a:defRPr sz="2400">
                <a:solidFill>
                  <a:srgbClr val="BBBBBB"/>
                </a:solidFill>
              </a:defRPr>
            </a:pPr>
            <a:r>
              <a:t>从本地开发到云端部署 · 课程演示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62095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>
                <a:latin typeface="+mn-ea"/>
              </a:rPr>
              <a:t>课程目录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88E5"/>
                </a:solidFill>
              </a:defRPr>
            </a:pPr>
            <a:r>
              <a:rPr dirty="0">
                <a:latin typeface="+mn-ea"/>
              </a:rPr>
              <a:t>01  </a:t>
            </a:r>
            <a:r>
              <a:rPr lang="zh-CN" altLang="en-US" dirty="0">
                <a:latin typeface="+mn-ea"/>
              </a:rPr>
              <a:t>创建阿里云服务器</a:t>
            </a:r>
            <a:endParaRPr dirty="0">
              <a:latin typeface="+mn-ea"/>
            </a:endParaRPr>
          </a:p>
          <a:p>
            <a:pPr>
              <a:defRPr sz="1600">
                <a:solidFill>
                  <a:srgbClr val="757575"/>
                </a:solidFill>
              </a:defRPr>
            </a:pPr>
            <a:r>
              <a:rPr dirty="0" err="1">
                <a:latin typeface="+mn-ea"/>
              </a:rPr>
              <a:t>注册账号、购买ECS、连接服务器</a:t>
            </a:r>
            <a:endParaRPr dirty="0">
              <a:latin typeface="+mn-ea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2651760"/>
            <a:ext cx="100584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88E5"/>
                </a:solidFill>
              </a:defRPr>
            </a:pPr>
            <a:r>
              <a:rPr lang="en-US" dirty="0">
                <a:latin typeface="+mn-ea"/>
              </a:rPr>
              <a:t>02</a:t>
            </a:r>
            <a:r>
              <a:rPr dirty="0">
                <a:latin typeface="+mn-ea"/>
              </a:rPr>
              <a:t>  </a:t>
            </a:r>
            <a:r>
              <a:rPr lang="zh-CN" altLang="en-US" sz="2400" b="1" dirty="0">
                <a:solidFill>
                  <a:srgbClr val="1E88E5"/>
                </a:solidFill>
                <a:latin typeface="+mn-ea"/>
              </a:rPr>
              <a:t>项目迁移上云</a:t>
            </a:r>
            <a:endParaRPr sz="2400" b="1" dirty="0">
              <a:solidFill>
                <a:srgbClr val="1E88E5"/>
              </a:solidFill>
              <a:latin typeface="+mn-ea"/>
            </a:endParaRPr>
          </a:p>
          <a:p>
            <a:pPr>
              <a:defRPr sz="1600">
                <a:solidFill>
                  <a:srgbClr val="757575"/>
                </a:solidFill>
              </a:defRPr>
            </a:pPr>
            <a:r>
              <a:rPr lang="zh-CN" altLang="en-US" dirty="0">
                <a:latin typeface="+mn-ea"/>
              </a:rPr>
              <a:t>环境冲突、依赖混乱、部署困难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931920"/>
            <a:ext cx="100584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88E5"/>
                </a:solidFill>
              </a:defRPr>
            </a:pPr>
            <a:r>
              <a:rPr lang="en-US" altLang="zh-CN" dirty="0">
                <a:latin typeface="+mn-ea"/>
              </a:rPr>
              <a:t>03  </a:t>
            </a:r>
            <a:r>
              <a:rPr lang="zh-CN" altLang="en-US" dirty="0">
                <a:latin typeface="+mn-ea"/>
              </a:rPr>
              <a:t>配置</a:t>
            </a:r>
            <a:r>
              <a:rPr lang="en-US" altLang="zh-CN" dirty="0">
                <a:latin typeface="+mn-ea"/>
              </a:rPr>
              <a:t>docker</a:t>
            </a:r>
            <a:r>
              <a:rPr lang="zh-CN" altLang="en-US" dirty="0">
                <a:latin typeface="+mn-ea"/>
              </a:rPr>
              <a:t>服务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212079"/>
            <a:ext cx="10058400" cy="10972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E88E5"/>
                </a:solidFill>
              </a:defRPr>
            </a:pPr>
            <a:r>
              <a:rPr sz="2400" b="1" dirty="0">
                <a:solidFill>
                  <a:srgbClr val="1E88E5"/>
                </a:solidFill>
                <a:latin typeface="+mn-ea"/>
              </a:rPr>
              <a:t>04  </a:t>
            </a:r>
            <a:r>
              <a:rPr lang="en-US" altLang="zh-CN" sz="2400" b="1" dirty="0">
                <a:solidFill>
                  <a:srgbClr val="1E88E5"/>
                </a:solidFill>
                <a:latin typeface="+mn-ea"/>
              </a:rPr>
              <a:t>Docker</a:t>
            </a:r>
            <a:r>
              <a:rPr lang="zh-CN" altLang="en-US" sz="2400" b="1" dirty="0">
                <a:solidFill>
                  <a:srgbClr val="1E88E5"/>
                </a:solidFill>
                <a:latin typeface="+mn-ea"/>
              </a:rPr>
              <a:t>标准流程</a:t>
            </a:r>
            <a:endParaRPr sz="2400" b="1" dirty="0">
              <a:solidFill>
                <a:srgbClr val="1E88E5"/>
              </a:solidFill>
              <a:latin typeface="+mn-ea"/>
            </a:endParaRPr>
          </a:p>
          <a:p>
            <a:pPr>
              <a:defRPr sz="1600">
                <a:solidFill>
                  <a:srgbClr val="757575"/>
                </a:solidFill>
              </a:defRPr>
            </a:pPr>
            <a:r>
              <a:rPr sz="1600" dirty="0" err="1">
                <a:solidFill>
                  <a:srgbClr val="757575"/>
                </a:solidFill>
                <a:latin typeface="+mn-ea"/>
              </a:rPr>
              <a:t>Dockerfile</a:t>
            </a:r>
            <a:r>
              <a:rPr sz="1600" dirty="0">
                <a:solidFill>
                  <a:srgbClr val="757575"/>
                </a:solidFill>
                <a:latin typeface="+mn-ea"/>
              </a:rPr>
              <a:t> → Build → </a:t>
            </a:r>
            <a:r>
              <a:rPr sz="1600" dirty="0" err="1">
                <a:solidFill>
                  <a:srgbClr val="757575"/>
                </a:solidFill>
                <a:latin typeface="+mn-ea"/>
              </a:rPr>
              <a:t>仓库</a:t>
            </a:r>
            <a:r>
              <a:rPr sz="1600" dirty="0">
                <a:solidFill>
                  <a:srgbClr val="757575"/>
                </a:solidFill>
                <a:latin typeface="+mn-ea"/>
              </a:rPr>
              <a:t> → </a:t>
            </a:r>
            <a:r>
              <a:rPr sz="1600" dirty="0" err="1">
                <a:solidFill>
                  <a:srgbClr val="757575"/>
                </a:solidFill>
                <a:latin typeface="+mn-ea"/>
              </a:rPr>
              <a:t>运行</a:t>
            </a:r>
            <a:endParaRPr sz="1600" dirty="0">
              <a:solidFill>
                <a:srgbClr val="757575"/>
              </a:solidFill>
              <a:latin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754FDF1-E878-8D1D-7194-3BF814EB5546}"/>
              </a:ext>
            </a:extLst>
          </p:cNvPr>
          <p:cNvSpPr txBox="1"/>
          <p:nvPr/>
        </p:nvSpPr>
        <p:spPr>
          <a:xfrm>
            <a:off x="1003301" y="4612809"/>
            <a:ext cx="61383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57575"/>
                </a:solidFill>
              </a:defRPr>
            </a:pPr>
            <a:r>
              <a:rPr lang="zh-CN" altLang="en-US" dirty="0">
                <a:latin typeface="+mn-ea"/>
              </a:rPr>
              <a:t>安装</a:t>
            </a:r>
            <a:r>
              <a:rPr lang="en-US" altLang="zh-CN" dirty="0">
                <a:latin typeface="+mn-ea"/>
              </a:rPr>
              <a:t>Docker</a:t>
            </a:r>
            <a:r>
              <a:rPr lang="zh-CN" altLang="en-US" dirty="0">
                <a:latin typeface="+mn-ea"/>
              </a:rPr>
              <a:t>、配置镜像加速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第一部分：创建阿里云服务器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步骤1：注册阿里云账号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访问阿里云官网：aliyun.com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点击右上角「免费注册」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使用手机号或邮箱注册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完成实名认证（身份证+人脸识别）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实名认证后才能购买云服务器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步骤2：购买ECS服务器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1371600"/>
            <a:ext cx="9851814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进入ECS控制台，点击「创建实例</a:t>
            </a:r>
            <a:r>
              <a:rPr dirty="0"/>
              <a:t>」</a:t>
            </a:r>
            <a:r>
              <a:rPr lang="zh-CN" altLang="en-US" dirty="0"/>
              <a:t>（建议按量付费，不用可停机，组长请找我开启</a:t>
            </a:r>
            <a:r>
              <a:rPr lang="en-US" altLang="zh-CN" dirty="0"/>
              <a:t>RAM</a:t>
            </a:r>
            <a:r>
              <a:rPr lang="zh-CN" altLang="en-US" dirty="0"/>
              <a:t>账号）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选择地域</a:t>
            </a:r>
            <a:r>
              <a:rPr dirty="0"/>
              <a:t>（</a:t>
            </a:r>
            <a:r>
              <a:rPr lang="zh-CN" altLang="en-US" dirty="0"/>
              <a:t>华东</a:t>
            </a:r>
            <a:r>
              <a:rPr lang="en-US" altLang="zh-CN" dirty="0"/>
              <a:t>/</a:t>
            </a:r>
            <a:r>
              <a:rPr dirty="0" err="1"/>
              <a:t>华南</a:t>
            </a:r>
            <a:r>
              <a:rPr dirty="0"/>
              <a:t>）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选择规格：2核 4GB </a:t>
            </a:r>
            <a:r>
              <a:rPr dirty="0" err="1"/>
              <a:t>内存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选择镜像：Ubuntu</a:t>
            </a:r>
            <a:r>
              <a:rPr dirty="0"/>
              <a:t> 22.04 LTS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设置root密码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配置安全组：开放22端口(SSH)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确认购买，等待实例创建完成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步骤2：购买ECS服务器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C8D6FBE-6B72-740B-CBA1-8601007B4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484115" cy="6675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956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5419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步骤2</a:t>
            </a:r>
            <a:r>
              <a:rPr lang="en-US" dirty="0"/>
              <a:t>.1</a:t>
            </a:r>
            <a:r>
              <a:rPr dirty="0"/>
              <a:t>：</a:t>
            </a:r>
            <a:r>
              <a:rPr lang="zh-CN" altLang="en-US" dirty="0"/>
              <a:t>搭建自己的专有网络</a:t>
            </a:r>
            <a:r>
              <a:rPr lang="en-US" altLang="zh-CN" dirty="0"/>
              <a:t>VPC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358987" y="1371600"/>
            <a:ext cx="50292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latin typeface="+mn-ea"/>
              </a:rPr>
              <a:t>由于后期要搭</a:t>
            </a:r>
            <a:r>
              <a:rPr lang="en-US" altLang="zh-CN" dirty="0">
                <a:latin typeface="+mn-ea"/>
              </a:rPr>
              <a:t>k8s</a:t>
            </a:r>
            <a:r>
              <a:rPr lang="zh-CN" altLang="en-US" dirty="0">
                <a:latin typeface="+mn-ea"/>
              </a:rPr>
              <a:t>集群，这里先把网络配好</a:t>
            </a:r>
            <a:br>
              <a:rPr lang="en-US" dirty="0">
                <a:latin typeface="+mn-ea"/>
              </a:rPr>
            </a:br>
            <a:r>
              <a:rPr lang="zh-CN" altLang="en-US" dirty="0">
                <a:latin typeface="+mn-ea"/>
              </a:rPr>
              <a:t>网络环境大家可以参照我的配置：</a:t>
            </a:r>
            <a:endParaRPr lang="en-US" altLang="zh-CN" dirty="0">
              <a:latin typeface="+mn-ea"/>
            </a:endParaR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en-US" altLang="zh-CN" dirty="0">
                <a:latin typeface="+mn-ea"/>
              </a:rPr>
              <a:t>VPC</a:t>
            </a:r>
            <a:r>
              <a:rPr lang="zh-CN" altLang="en-US" dirty="0">
                <a:latin typeface="+mn-ea"/>
              </a:rPr>
              <a:t>网段：</a:t>
            </a:r>
            <a:br>
              <a:rPr lang="en-US" altLang="zh-CN" dirty="0">
                <a:latin typeface="+mn-ea"/>
              </a:rPr>
            </a:b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10.0.0.0/16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BE69183-B6DC-85B6-3DE5-7E93BC6C3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187" y="1097280"/>
            <a:ext cx="6614603" cy="570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725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5419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步骤2</a:t>
            </a:r>
            <a:r>
              <a:rPr lang="en-US" dirty="0"/>
              <a:t>.1</a:t>
            </a:r>
            <a:r>
              <a:rPr dirty="0"/>
              <a:t>：</a:t>
            </a:r>
            <a:r>
              <a:rPr lang="zh-CN" altLang="en-US" dirty="0"/>
              <a:t>搭建自己的专有网络</a:t>
            </a:r>
            <a:r>
              <a:rPr lang="en-US" altLang="zh-CN" dirty="0"/>
              <a:t>VPC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23521" y="1371600"/>
            <a:ext cx="4509346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latin typeface="+mn-ea"/>
              </a:rPr>
              <a:t>交换机配置：</a:t>
            </a:r>
            <a:endParaRPr lang="en-US" altLang="zh-CN" dirty="0">
              <a:latin typeface="+mn-ea"/>
            </a:endParaR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latin typeface="+mn-ea"/>
              </a:rPr>
              <a:t>这里使用两个子网，为后期</a:t>
            </a:r>
            <a:r>
              <a:rPr lang="en-US" altLang="zh-CN" dirty="0">
                <a:latin typeface="+mn-ea"/>
              </a:rPr>
              <a:t>k8s</a:t>
            </a:r>
            <a:r>
              <a:rPr lang="zh-CN" altLang="en-US" dirty="0">
                <a:latin typeface="+mn-ea"/>
              </a:rPr>
              <a:t>搭建做准备。</a:t>
            </a:r>
            <a:br>
              <a:rPr lang="en-US" altLang="zh-CN" dirty="0">
                <a:latin typeface="+mn-ea"/>
              </a:rPr>
            </a:br>
            <a:r>
              <a:rPr lang="zh-CN" altLang="en-US" dirty="0">
                <a:latin typeface="+mn-ea"/>
              </a:rPr>
              <a:t>这里建议选择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深圳可用区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C</a:t>
            </a:r>
            <a:br>
              <a:rPr lang="en-US" altLang="zh-CN" dirty="0">
                <a:latin typeface="+mn-ea"/>
              </a:rPr>
            </a:br>
            <a:br>
              <a:rPr lang="en-US" altLang="zh-CN" dirty="0">
                <a:latin typeface="+mn-ea"/>
              </a:rPr>
            </a:br>
            <a:r>
              <a:rPr lang="zh-CN" altLang="en-US" dirty="0">
                <a:latin typeface="+mn-ea"/>
              </a:rPr>
              <a:t>交换机</a:t>
            </a:r>
            <a:r>
              <a:rPr lang="en-US" altLang="zh-CN" dirty="0">
                <a:latin typeface="+mn-ea"/>
              </a:rPr>
              <a:t>A</a:t>
            </a:r>
            <a:r>
              <a:rPr lang="zh-CN" altLang="en-US" dirty="0">
                <a:latin typeface="+mn-ea"/>
              </a:rPr>
              <a:t>子网：</a:t>
            </a:r>
            <a:endParaRPr lang="en-US" altLang="zh-CN" dirty="0">
              <a:latin typeface="+mn-ea"/>
            </a:endParaR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10.0.1.0/24</a:t>
            </a:r>
            <a:br>
              <a:rPr lang="en-US" dirty="0">
                <a:latin typeface="+mn-ea"/>
              </a:rPr>
            </a:br>
            <a:r>
              <a:rPr lang="zh-CN" altLang="en-US" dirty="0">
                <a:latin typeface="+mn-ea"/>
              </a:rPr>
              <a:t>交换机</a:t>
            </a:r>
            <a:r>
              <a:rPr lang="en-US" altLang="zh-CN" dirty="0">
                <a:latin typeface="+mn-ea"/>
              </a:rPr>
              <a:t>B</a:t>
            </a:r>
            <a:r>
              <a:rPr lang="zh-CN" altLang="en-US" dirty="0">
                <a:latin typeface="+mn-ea"/>
              </a:rPr>
              <a:t>子网：</a:t>
            </a:r>
            <a:endParaRPr lang="en-US" altLang="zh-CN" dirty="0">
              <a:latin typeface="+mn-ea"/>
            </a:endParaR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10.0.2.0/24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endParaRPr dirty="0"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5B29CE9-FAB2-E6BA-C416-EFA3936EB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232" y="1089286"/>
            <a:ext cx="6447835" cy="576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0265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54190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步骤2</a:t>
            </a:r>
            <a:r>
              <a:rPr lang="en-US" dirty="0"/>
              <a:t>.1</a:t>
            </a:r>
            <a:r>
              <a:rPr dirty="0"/>
              <a:t>：</a:t>
            </a:r>
            <a:r>
              <a:rPr lang="zh-CN" altLang="en-US" dirty="0"/>
              <a:t>搭建自己的专有网络</a:t>
            </a:r>
            <a:r>
              <a:rPr lang="en-US" altLang="zh-CN" dirty="0"/>
              <a:t>VPC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23520" y="1371600"/>
            <a:ext cx="47250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latin typeface="+mn-ea"/>
              </a:rPr>
              <a:t>创建完交换机后，配置自己的</a:t>
            </a:r>
            <a:r>
              <a:rPr lang="en-US" altLang="zh-CN" dirty="0">
                <a:latin typeface="+mn-ea"/>
              </a:rPr>
              <a:t>ECS</a:t>
            </a:r>
            <a:r>
              <a:rPr lang="zh-CN" altLang="en-US" dirty="0">
                <a:latin typeface="+mn-ea"/>
              </a:rPr>
              <a:t>的私网地址。</a:t>
            </a:r>
            <a:br>
              <a:rPr lang="en-US" altLang="zh-CN" dirty="0">
                <a:latin typeface="+mn-ea"/>
              </a:rPr>
            </a:br>
            <a:br>
              <a:rPr lang="en-US" altLang="zh-CN" dirty="0">
                <a:latin typeface="+mn-ea"/>
              </a:rPr>
            </a:br>
            <a:endParaRPr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F93426-7FB3-63DC-780A-089B3A1EF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133" y="2114790"/>
            <a:ext cx="10171428" cy="3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86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9696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步骤2</a:t>
            </a:r>
            <a:r>
              <a:rPr lang="en-US" dirty="0"/>
              <a:t>.2</a:t>
            </a:r>
            <a:r>
              <a:rPr dirty="0"/>
              <a:t>：</a:t>
            </a:r>
            <a:r>
              <a:rPr lang="zh-CN" altLang="en-US" dirty="0"/>
              <a:t>系统镜像和扩展程序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23521" y="1371600"/>
            <a:ext cx="434001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系统镜像</a:t>
            </a:r>
            <a:r>
              <a:rPr lang="zh-CN" altLang="en-US" dirty="0">
                <a:latin typeface="+mn-ea"/>
              </a:rPr>
              <a:t>选择：</a:t>
            </a:r>
            <a:br>
              <a:rPr lang="en-US" altLang="zh-CN" dirty="0">
                <a:latin typeface="+mn-ea"/>
              </a:rPr>
            </a:b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Ubuntu:22.04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64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位</a:t>
            </a:r>
            <a:endParaRPr lang="en-US" altLang="zh-CN" dirty="0">
              <a:solidFill>
                <a:srgbClr val="FF0000"/>
              </a:solidFill>
              <a:highlight>
                <a:srgbClr val="FFFF00"/>
              </a:highlight>
              <a:latin typeface="+mn-ea"/>
            </a:endParaRP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latin typeface="+mn-ea"/>
              </a:rPr>
              <a:t>并且扩展程序选择：</a:t>
            </a:r>
            <a:br>
              <a:rPr lang="en-US" altLang="zh-CN" dirty="0">
                <a:latin typeface="+mn-ea"/>
              </a:rPr>
            </a:b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  <a:latin typeface="+mn-ea"/>
              </a:rPr>
              <a:t>Golang 1.23.6</a:t>
            </a:r>
            <a:br>
              <a:rPr lang="en-US" altLang="zh-CN" dirty="0">
                <a:latin typeface="+mn-ea"/>
              </a:rPr>
            </a:br>
            <a:endParaRPr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4DB61F-3907-741E-9CD6-D354070E8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032" y="1097280"/>
            <a:ext cx="7267678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339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44490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步骤2</a:t>
            </a:r>
            <a:r>
              <a:rPr lang="en-US" dirty="0"/>
              <a:t>.3</a:t>
            </a:r>
            <a:r>
              <a:rPr dirty="0"/>
              <a:t>：</a:t>
            </a:r>
            <a:r>
              <a:rPr lang="zh-CN" altLang="en-US" dirty="0"/>
              <a:t>硬盘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23521" y="1371600"/>
            <a:ext cx="21700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rgbClr val="FF0000"/>
                </a:solidFill>
              </a:rPr>
              <a:t>保持默认选项即可</a:t>
            </a:r>
            <a:br>
              <a:rPr lang="en-US" altLang="zh-CN" dirty="0">
                <a:solidFill>
                  <a:srgbClr val="FF0000"/>
                </a:solidFill>
              </a:rPr>
            </a:br>
            <a:r>
              <a:rPr lang="en-US" altLang="zh-CN" dirty="0">
                <a:solidFill>
                  <a:srgbClr val="FF0000"/>
                </a:solidFill>
              </a:rPr>
              <a:t>40G</a:t>
            </a:r>
            <a:r>
              <a:rPr lang="zh-CN" altLang="en-US" dirty="0">
                <a:solidFill>
                  <a:srgbClr val="FF0000"/>
                </a:solidFill>
              </a:rPr>
              <a:t>够用</a:t>
            </a:r>
            <a:endParaRPr dirty="0">
              <a:solidFill>
                <a:srgbClr val="FF0000"/>
              </a:solidFill>
              <a:latin typeface="+mn-ea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CB39222-05B1-9E72-DEE6-85B586061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527" y="1280160"/>
            <a:ext cx="9677521" cy="5346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048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9004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步骤2</a:t>
            </a:r>
            <a:r>
              <a:rPr lang="en-US" dirty="0"/>
              <a:t>.3</a:t>
            </a:r>
            <a:r>
              <a:rPr dirty="0"/>
              <a:t>：</a:t>
            </a:r>
            <a:r>
              <a:rPr lang="zh-CN" altLang="en-US" dirty="0"/>
              <a:t>网络和安全组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23520" y="1371600"/>
            <a:ext cx="443314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rgbClr val="FF0000"/>
                </a:solidFill>
                <a:latin typeface="+mn-ea"/>
              </a:rPr>
              <a:t>不分配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公网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IP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，后期自己配弹性公网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IP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新建安全组</a:t>
            </a:r>
            <a:b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</a:b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名称随意，控制台都可以改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新建网卡</a:t>
            </a:r>
            <a:b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</a:b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默认在第一个交换机的网段</a:t>
            </a:r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A31D53-1BF1-1FAE-9490-3FDC5FBC0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249" y="1181948"/>
            <a:ext cx="6756645" cy="5481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33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166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步骤2</a:t>
            </a:r>
            <a:r>
              <a:rPr lang="en-US" dirty="0"/>
              <a:t>.4</a:t>
            </a:r>
            <a:r>
              <a:rPr dirty="0"/>
              <a:t>：</a:t>
            </a:r>
            <a:r>
              <a:rPr lang="zh-CN" altLang="en-US" dirty="0"/>
              <a:t>管理设置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23520" y="1643896"/>
            <a:ext cx="443314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选择使用密钥对登录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没有则先创建密钥对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pic>
        <p:nvPicPr>
          <p:cNvPr id="6" name="图片 5" descr="图形用户界面, 应用程序, Word&#10;&#10;AI 生成的内容可能不正确。">
            <a:extLst>
              <a:ext uri="{FF2B5EF4-FFF2-40B4-BE49-F238E27FC236}">
                <a16:creationId xmlns:a16="http://schemas.microsoft.com/office/drawing/2014/main" id="{695A9868-BC9B-7108-E047-E766A71ED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4546"/>
            <a:ext cx="12192000" cy="3464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699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B48F62-120E-13B3-A1C1-49D8FA7DE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BFB3113-21AB-9B03-2FFB-323B2C5E1646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73842E-EF2B-BD27-E699-9F99D0227A3E}"/>
              </a:ext>
            </a:extLst>
          </p:cNvPr>
          <p:cNvSpPr txBox="1"/>
          <p:nvPr/>
        </p:nvSpPr>
        <p:spPr>
          <a:xfrm>
            <a:off x="457200" y="182880"/>
            <a:ext cx="316625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步骤2</a:t>
            </a:r>
            <a:r>
              <a:rPr lang="en-US" dirty="0"/>
              <a:t>.4</a:t>
            </a:r>
            <a:r>
              <a:rPr dirty="0"/>
              <a:t>：</a:t>
            </a:r>
            <a:r>
              <a:rPr lang="zh-CN" altLang="en-US" dirty="0"/>
              <a:t>管理设置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6B6D6D-4218-1807-0668-B89CE0FA4AE0}"/>
              </a:ext>
            </a:extLst>
          </p:cNvPr>
          <p:cNvSpPr txBox="1"/>
          <p:nvPr/>
        </p:nvSpPr>
        <p:spPr>
          <a:xfrm>
            <a:off x="170766" y="1238181"/>
            <a:ext cx="991694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密钥对创建完成后，会自动下载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私钥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到本地，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公钥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放在云端。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名称任意，注意保存好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私钥</a:t>
            </a:r>
            <a:b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</a:b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pic>
        <p:nvPicPr>
          <p:cNvPr id="7" name="图片 6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E295084F-0077-C5D4-57A8-084A71FB6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340" y="2376827"/>
            <a:ext cx="5191838" cy="4046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5896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6869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步骤2</a:t>
            </a:r>
            <a:r>
              <a:rPr lang="en-US" dirty="0"/>
              <a:t>.4</a:t>
            </a:r>
            <a:r>
              <a:rPr dirty="0"/>
              <a:t>：</a:t>
            </a:r>
            <a:r>
              <a:rPr lang="zh-CN" altLang="en-US" dirty="0"/>
              <a:t>高级选项</a:t>
            </a:r>
            <a:r>
              <a:rPr lang="en-US" altLang="zh-CN" dirty="0"/>
              <a:t>-</a:t>
            </a:r>
            <a:r>
              <a:rPr lang="zh-CN" altLang="en-US" dirty="0"/>
              <a:t>配置实例名称和主机名称（选做）</a:t>
            </a:r>
            <a:endParaRPr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58B9B2A-3A0C-8A28-4D63-F4D9F1CFD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392" y="1515843"/>
            <a:ext cx="1001077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477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2705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步骤2</a:t>
            </a:r>
            <a:r>
              <a:rPr lang="en-US" dirty="0"/>
              <a:t>.5</a:t>
            </a:r>
            <a:r>
              <a:rPr dirty="0"/>
              <a:t>：</a:t>
            </a:r>
            <a:r>
              <a:rPr lang="zh-CN" altLang="en-US" dirty="0"/>
              <a:t>下单购买</a:t>
            </a:r>
            <a:r>
              <a:rPr lang="en-US" altLang="zh-CN" dirty="0"/>
              <a:t>ECS</a:t>
            </a:r>
            <a:r>
              <a:rPr lang="zh-CN" altLang="en-US" dirty="0"/>
              <a:t>云服务器</a:t>
            </a:r>
            <a:endParaRPr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C85783-7DB2-540D-3580-B7B4C5A87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5" y="2406405"/>
            <a:ext cx="12192000" cy="3958657"/>
          </a:xfrm>
          <a:prstGeom prst="rect">
            <a:avLst/>
          </a:prstGeom>
        </p:spPr>
      </p:pic>
      <p:sp>
        <p:nvSpPr>
          <p:cNvPr id="6" name="TextBox 3">
            <a:extLst>
              <a:ext uri="{FF2B5EF4-FFF2-40B4-BE49-F238E27FC236}">
                <a16:creationId xmlns:a16="http://schemas.microsoft.com/office/drawing/2014/main" id="{34E67C86-527D-0EE0-71F1-18D92645B771}"/>
              </a:ext>
            </a:extLst>
          </p:cNvPr>
          <p:cNvSpPr txBox="1"/>
          <p:nvPr/>
        </p:nvSpPr>
        <p:spPr>
          <a:xfrm>
            <a:off x="223520" y="1351733"/>
            <a:ext cx="7388013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可以选择保存为启动模板，后期购买可以减少设置的时间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下单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92613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7776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zh-CN" altLang="en-US" dirty="0"/>
              <a:t>步骤</a:t>
            </a:r>
            <a:r>
              <a:rPr lang="en-US" altLang="zh-CN" dirty="0"/>
              <a:t>2.6</a:t>
            </a:r>
            <a:r>
              <a:rPr lang="zh-CN" altLang="en-US" dirty="0"/>
              <a:t>：购买弹性公网</a:t>
            </a:r>
            <a:r>
              <a:rPr lang="en-US" altLang="zh-CN" dirty="0"/>
              <a:t>IP-</a:t>
            </a:r>
            <a:r>
              <a:rPr lang="zh-CN" altLang="en-US" dirty="0"/>
              <a:t>按量付费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C04694B-5EBD-A7DD-A17C-9D909B9D0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42" y="981816"/>
            <a:ext cx="10972953" cy="587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152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4531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步骤2</a:t>
            </a:r>
            <a:r>
              <a:rPr lang="en-US" dirty="0"/>
              <a:t>.6</a:t>
            </a:r>
            <a:r>
              <a:rPr dirty="0"/>
              <a:t>：</a:t>
            </a:r>
            <a:r>
              <a:rPr lang="zh-CN" altLang="en-US" dirty="0"/>
              <a:t>配置公网</a:t>
            </a:r>
            <a:r>
              <a:rPr lang="en-US" altLang="zh-CN" dirty="0"/>
              <a:t>IP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17907FC-40D2-7459-14E2-E67F6666D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706100"/>
            <a:ext cx="12192000" cy="607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396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4531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步骤2</a:t>
            </a:r>
            <a:r>
              <a:rPr lang="en-US" dirty="0"/>
              <a:t>.6</a:t>
            </a:r>
            <a:r>
              <a:rPr dirty="0"/>
              <a:t>：</a:t>
            </a:r>
            <a:r>
              <a:rPr lang="zh-CN" altLang="en-US" dirty="0"/>
              <a:t>配置公网</a:t>
            </a:r>
            <a:r>
              <a:rPr lang="en-US" altLang="zh-CN" dirty="0"/>
              <a:t>IP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F994DB9-9FB8-9F0C-3E8A-3993AF52CAC1}"/>
              </a:ext>
            </a:extLst>
          </p:cNvPr>
          <p:cNvSpPr txBox="1"/>
          <p:nvPr/>
        </p:nvSpPr>
        <p:spPr>
          <a:xfrm>
            <a:off x="422122" y="1280160"/>
            <a:ext cx="6138332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点开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ECS</a:t>
            </a: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控制台，打开实例页面，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绑定刚刚购买的弹性公网</a:t>
            </a:r>
            <a:r>
              <a:rPr lang="en-US" altLang="zh-CN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IP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顺便在这个页面也可以检查一下你的服务器的配置。</a:t>
            </a:r>
            <a:endParaRPr lang="en-US" altLang="zh-CN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2563439-1A32-6964-F109-DF5C00CF2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9742" y="2760876"/>
            <a:ext cx="5752381" cy="3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600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步骤3：连接服务器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获取服务器公网IP地址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使用SSH工具</a:t>
            </a:r>
            <a:r>
              <a:rPr lang="en-US" altLang="zh-CN" dirty="0"/>
              <a:t>/</a:t>
            </a:r>
            <a:r>
              <a:rPr lang="zh-CN" altLang="en-US" b="1" dirty="0"/>
              <a:t>命令行</a:t>
            </a:r>
            <a:r>
              <a:rPr dirty="0" err="1"/>
              <a:t>连接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验证系统信息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更新软件源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# </a:t>
            </a:r>
            <a:r>
              <a:rPr lang="zh-CN" altLang="en-US" dirty="0"/>
              <a:t>使用密钥</a:t>
            </a:r>
            <a:r>
              <a:rPr dirty="0" err="1"/>
              <a:t>SSH连接服务器</a:t>
            </a:r>
            <a:br>
              <a:rPr dirty="0"/>
            </a:br>
            <a:r>
              <a:rPr lang="pl-PL" dirty="0"/>
              <a:t>ssh -i my-key.pem root</a:t>
            </a:r>
            <a:r>
              <a:rPr dirty="0"/>
              <a:t>@你的公网IP</a:t>
            </a:r>
            <a:br>
              <a:rPr dirty="0"/>
            </a:br>
            <a:br>
              <a:rPr dirty="0"/>
            </a:br>
            <a:r>
              <a:rPr dirty="0"/>
              <a:t># </a:t>
            </a:r>
            <a:r>
              <a:rPr dirty="0" err="1"/>
              <a:t>验证系统信息</a:t>
            </a:r>
            <a:br>
              <a:rPr dirty="0"/>
            </a:br>
            <a:r>
              <a:rPr dirty="0" err="1"/>
              <a:t>uname</a:t>
            </a:r>
            <a:r>
              <a:rPr dirty="0"/>
              <a:t> -a</a:t>
            </a:r>
            <a:br>
              <a:rPr dirty="0"/>
            </a:br>
            <a:r>
              <a:rPr dirty="0"/>
              <a:t>free -h</a:t>
            </a:r>
            <a:br>
              <a:rPr dirty="0"/>
            </a:br>
            <a:r>
              <a:rPr dirty="0" err="1"/>
              <a:t>df</a:t>
            </a:r>
            <a:r>
              <a:rPr dirty="0"/>
              <a:t> -h</a:t>
            </a:r>
            <a:br>
              <a:rPr dirty="0"/>
            </a:br>
            <a:br>
              <a:rPr dirty="0"/>
            </a:br>
            <a:r>
              <a:rPr dirty="0"/>
              <a:t># </a:t>
            </a:r>
            <a:r>
              <a:rPr dirty="0" err="1"/>
              <a:t>更新软件源</a:t>
            </a:r>
            <a:br>
              <a:rPr dirty="0"/>
            </a:br>
            <a:r>
              <a:rPr dirty="0"/>
              <a:t>apt update &amp;&amp; apt upgrade -y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7CCBA9-4094-756C-FB53-FF18807F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6DBB54-21AE-B618-D444-F19CF6171E1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2EA22F-93F3-799A-4962-5CDFE89D9E37}"/>
              </a:ext>
            </a:extLst>
          </p:cNvPr>
          <p:cNvSpPr txBox="1"/>
          <p:nvPr/>
        </p:nvSpPr>
        <p:spPr>
          <a:xfrm>
            <a:off x="457200" y="182880"/>
            <a:ext cx="90601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zh-CN" altLang="en-US" dirty="0"/>
              <a:t>小坑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09CF7-1E54-49C6-BE0E-5FC3E7E2BA12}"/>
              </a:ext>
            </a:extLst>
          </p:cNvPr>
          <p:cNvSpPr txBox="1"/>
          <p:nvPr/>
        </p:nvSpPr>
        <p:spPr>
          <a:xfrm>
            <a:off x="507343" y="1165508"/>
            <a:ext cx="11368057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如果你是在</a:t>
            </a:r>
            <a:r>
              <a:rPr lang="en-US" altLang="zh-CN" dirty="0"/>
              <a:t>shell/bash</a:t>
            </a:r>
            <a:r>
              <a:rPr lang="zh-CN" altLang="en-US" dirty="0"/>
              <a:t>终端使用命令行工具</a:t>
            </a:r>
            <a:r>
              <a:rPr lang="en-US" altLang="zh-CN" dirty="0"/>
              <a:t>ssh</a:t>
            </a:r>
            <a:r>
              <a:rPr lang="zh-CN" altLang="en-US" dirty="0"/>
              <a:t>登录，需要把私钥放到你的</a:t>
            </a:r>
            <a:r>
              <a:rPr lang="zh-CN" altLang="en-US" dirty="0">
                <a:solidFill>
                  <a:srgbClr val="FF0000"/>
                </a:solidFill>
              </a:rPr>
              <a:t>用户目录</a:t>
            </a:r>
            <a:r>
              <a:rPr lang="en-US" altLang="zh-CN" dirty="0">
                <a:solidFill>
                  <a:srgbClr val="FF0000"/>
                </a:solidFill>
              </a:rPr>
              <a:t>/.ssh</a:t>
            </a:r>
            <a:r>
              <a:rPr lang="zh-CN" altLang="en-US" dirty="0"/>
              <a:t>目录下，并</a:t>
            </a:r>
            <a:r>
              <a:rPr lang="zh-CN" altLang="en-US" dirty="0">
                <a:solidFill>
                  <a:srgbClr val="FF0000"/>
                </a:solidFill>
              </a:rPr>
              <a:t>收紧权限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如果使用</a:t>
            </a:r>
            <a:r>
              <a:rPr lang="en-US" altLang="zh-CN" dirty="0" err="1"/>
              <a:t>Xshell</a:t>
            </a:r>
            <a:r>
              <a:rPr lang="zh-CN" altLang="en-US" dirty="0"/>
              <a:t>等</a:t>
            </a:r>
            <a:r>
              <a:rPr lang="en-US" altLang="zh-CN" dirty="0"/>
              <a:t>ssh</a:t>
            </a:r>
            <a:r>
              <a:rPr lang="zh-CN" altLang="en-US" dirty="0"/>
              <a:t>工具连接，则可以从任意目录导入私钥，由</a:t>
            </a:r>
            <a:r>
              <a:rPr lang="en-US" altLang="zh-CN" dirty="0" err="1"/>
              <a:t>Xshell</a:t>
            </a:r>
            <a:r>
              <a:rPr lang="zh-CN" altLang="en-US" dirty="0"/>
              <a:t>工具管理密钥，无需管理目录权限。</a:t>
            </a:r>
            <a:endParaRPr dirty="0"/>
          </a:p>
        </p:txBody>
      </p:sp>
      <p:pic>
        <p:nvPicPr>
          <p:cNvPr id="7" name="图片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B527F033-CD43-AD45-E75E-E337A8EC2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3955"/>
            <a:ext cx="5918395" cy="4618891"/>
          </a:xfrm>
          <a:prstGeom prst="rect">
            <a:avLst/>
          </a:prstGeom>
        </p:spPr>
      </p:pic>
      <p:pic>
        <p:nvPicPr>
          <p:cNvPr id="9" name="图片 8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D69CAFBA-35C1-A390-D3E4-EF6581971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7376" y="2033955"/>
            <a:ext cx="5039369" cy="461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706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1440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/>
              <a:t>第二部分</a:t>
            </a:r>
            <a:r>
              <a:rPr dirty="0"/>
              <a:t>：</a:t>
            </a:r>
            <a:r>
              <a:rPr lang="zh-CN" altLang="en-US" dirty="0"/>
              <a:t>项目迁移上云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6273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zh-CN" altLang="en-US" dirty="0"/>
              <a:t>本地开发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本地开发了一个项目，开发测试通过。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6B4227B-E3F5-AEF3-D7B0-9FF5DEF9F2B8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b="37284"/>
          <a:stretch/>
        </p:blipFill>
        <p:spPr>
          <a:xfrm>
            <a:off x="955869" y="2187347"/>
            <a:ext cx="9368161" cy="402980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27093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zh-CN" altLang="en-US" dirty="0"/>
              <a:t>迁移源代码上云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在自己租用的云服务器上</a:t>
            </a:r>
            <a:r>
              <a:rPr lang="en-US" altLang="zh-CN" dirty="0"/>
              <a:t>git</a:t>
            </a:r>
            <a:r>
              <a:rPr lang="zh-CN" altLang="en-US" dirty="0"/>
              <a:t>拉取代码</a:t>
            </a:r>
            <a:endParaRPr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65A904-897E-8831-C6F3-1E3534DA1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182" y="1828336"/>
            <a:ext cx="7638095" cy="1200000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124268A6-B638-4D30-6E06-094F1930698C}"/>
              </a:ext>
            </a:extLst>
          </p:cNvPr>
          <p:cNvSpPr txBox="1"/>
          <p:nvPr/>
        </p:nvSpPr>
        <p:spPr>
          <a:xfrm>
            <a:off x="731519" y="3244334"/>
            <a:ext cx="730829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>
                <a:solidFill>
                  <a:srgbClr val="FF0000"/>
                </a:solidFill>
              </a:rPr>
              <a:t>或者</a:t>
            </a:r>
            <a:r>
              <a:rPr lang="zh-CN" altLang="en-US" dirty="0"/>
              <a:t>直接使用</a:t>
            </a:r>
            <a:r>
              <a:rPr lang="en-US" altLang="zh-CN" dirty="0" err="1"/>
              <a:t>scp</a:t>
            </a:r>
            <a:r>
              <a:rPr lang="zh-CN" altLang="en-US" dirty="0"/>
              <a:t>命令上传代码</a:t>
            </a:r>
            <a:endParaRPr lang="en-US" altLang="zh-CN"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en-US" dirty="0" err="1"/>
              <a:t>scp</a:t>
            </a:r>
            <a:r>
              <a:rPr lang="en-US" dirty="0"/>
              <a:t> -r ./my-project root@</a:t>
            </a:r>
            <a:r>
              <a:rPr lang="zh-CN" altLang="en-US" dirty="0"/>
              <a:t>你的服务器公网</a:t>
            </a:r>
            <a:r>
              <a:rPr lang="en-US" altLang="zh-CN" dirty="0" err="1"/>
              <a:t>ip</a:t>
            </a:r>
            <a:r>
              <a:rPr lang="en-US" dirty="0"/>
              <a:t>:/root/</a:t>
            </a:r>
            <a:r>
              <a:rPr lang="en-US" altLang="zh-CN" dirty="0"/>
              <a:t>workspace/</a:t>
            </a:r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A3D39E76-237C-7170-B60E-518232C6DEF8}"/>
              </a:ext>
            </a:extLst>
          </p:cNvPr>
          <p:cNvPicPr>
            <a:picLocks/>
          </p:cNvPicPr>
          <p:nvPr/>
        </p:nvPicPr>
        <p:blipFill rotWithShape="1">
          <a:blip r:embed="rId4"/>
          <a:srcRect b="46197"/>
          <a:stretch/>
        </p:blipFill>
        <p:spPr>
          <a:xfrm>
            <a:off x="731520" y="4260551"/>
            <a:ext cx="10514286" cy="169094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4163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/>
              <a:t>问题：环境版本冲突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服务器已有Python</a:t>
            </a:r>
            <a:r>
              <a:rPr dirty="0"/>
              <a:t> 3.</a:t>
            </a:r>
            <a:r>
              <a:rPr lang="en-US" dirty="0"/>
              <a:t>10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项目需要Python</a:t>
            </a:r>
            <a:r>
              <a:rPr dirty="0"/>
              <a:t> 3.11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升级Python可能影响系统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多个项目版本需求不同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3429000"/>
            <a:ext cx="3089982" cy="2812211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查看当前Python版本</a:t>
            </a:r>
            <a:br>
              <a:rPr dirty="0"/>
            </a:br>
            <a:r>
              <a:rPr dirty="0"/>
              <a:t>python3 --version</a:t>
            </a:r>
            <a:br>
              <a:rPr dirty="0"/>
            </a:br>
            <a:r>
              <a:rPr dirty="0"/>
              <a:t>#Python 3.8.10</a:t>
            </a:r>
            <a:br>
              <a:rPr dirty="0"/>
            </a:br>
            <a:br>
              <a:rPr dirty="0"/>
            </a:br>
            <a:r>
              <a:rPr dirty="0"/>
              <a:t># 项目需要3.11</a:t>
            </a:r>
            <a:br>
              <a:rPr dirty="0"/>
            </a:br>
            <a:r>
              <a:rPr dirty="0"/>
              <a:t># </a:t>
            </a:r>
            <a:r>
              <a:rPr dirty="0" err="1"/>
              <a:t>直接升级会破坏系统工具</a:t>
            </a:r>
            <a:br>
              <a:rPr dirty="0"/>
            </a:br>
            <a:br>
              <a:rPr dirty="0"/>
            </a:br>
            <a:r>
              <a:rPr dirty="0"/>
              <a:t># 尝试安装3.11</a:t>
            </a:r>
            <a:br>
              <a:rPr dirty="0"/>
            </a:br>
            <a:r>
              <a:rPr dirty="0"/>
              <a:t>apt install python3.11</a:t>
            </a:r>
            <a:br>
              <a:rPr dirty="0"/>
            </a:br>
            <a:r>
              <a:rPr dirty="0"/>
              <a:t># </a:t>
            </a:r>
            <a:r>
              <a:rPr dirty="0" err="1"/>
              <a:t>可能导致系统不稳定</a:t>
            </a:r>
            <a:endParaRPr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A440967-536C-22A3-0B40-35DA3E44C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526" y="1607986"/>
            <a:ext cx="5542857" cy="9333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84B9E99-D732-2378-8CE5-CE3C8BC937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133" y="3292944"/>
            <a:ext cx="2533333" cy="270476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问题总结：传统部署的痛点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环境隔离：无隔离，版本冲突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依赖管理：库版本混乱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部署重复：每次都要重配环境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难以回滚：出错无法快速恢复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迁移困难：换服务器全部重来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t>┌─────────────────────────────┐</a:t>
            </a:r>
            <a:br/>
            <a:r>
              <a:t>│      传统部署的问题         │</a:t>
            </a:r>
            <a:br/>
            <a:r>
              <a:t>├─────────────────────────────┤</a:t>
            </a:r>
            <a:br/>
            <a:r>
              <a:t>│ ❌ 环境冲突  → 项目无法运行 │</a:t>
            </a:r>
            <a:br/>
            <a:r>
              <a:t>│ ❌ 依赖混乱  → 运行报错     │</a:t>
            </a:r>
            <a:br/>
            <a:r>
              <a:t>│ ❌ 部署重复  → 效率低下     │</a:t>
            </a:r>
            <a:br/>
            <a:r>
              <a:t>│ ❌ 难以回滚  → 风险高       │</a:t>
            </a:r>
            <a:br/>
            <a:r>
              <a:t>│ ❌ 迁移困难  → 成本高       │</a:t>
            </a:r>
            <a:br/>
            <a:r>
              <a:t>└─────────────────────────────┘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5590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/>
              <a:t>第三部分</a:t>
            </a:r>
            <a:r>
              <a:rPr dirty="0"/>
              <a:t>：</a:t>
            </a:r>
            <a:r>
              <a:rPr lang="zh-CN" altLang="en-US" dirty="0">
                <a:latin typeface="+mn-ea"/>
              </a:rPr>
              <a:t>配置</a:t>
            </a:r>
            <a:r>
              <a:rPr lang="en-US" altLang="zh-CN" dirty="0">
                <a:latin typeface="+mn-ea"/>
              </a:rPr>
              <a:t>docker</a:t>
            </a:r>
            <a:r>
              <a:rPr lang="zh-CN" altLang="en-US" dirty="0">
                <a:latin typeface="+mn-ea"/>
              </a:rPr>
              <a:t>服务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步骤4：安装Docker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1371600"/>
            <a:ext cx="8308963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安装依赖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添加Docker官方GPG密钥</a:t>
            </a:r>
            <a:r>
              <a:rPr lang="zh-CN" altLang="en-US" dirty="0"/>
              <a:t>（用来验证</a:t>
            </a:r>
            <a:r>
              <a:rPr lang="en-US" altLang="zh-CN" dirty="0"/>
              <a:t>docker</a:t>
            </a:r>
            <a:r>
              <a:rPr lang="zh-CN" altLang="en-US" dirty="0"/>
              <a:t>软件来源真实性和完整性）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添加Docker软件源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安装Docker引擎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88654" y="3394493"/>
            <a:ext cx="10341346" cy="2760453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# </a:t>
            </a:r>
            <a:r>
              <a:rPr lang="zh-CN" altLang="en-US" dirty="0"/>
              <a:t>更新系统并安装基础工具</a:t>
            </a:r>
            <a:br>
              <a:rPr dirty="0"/>
            </a:br>
            <a:r>
              <a:rPr lang="en-US" dirty="0" err="1"/>
              <a:t>sudo</a:t>
            </a:r>
            <a:r>
              <a:rPr lang="en-US" dirty="0"/>
              <a:t> apt-get update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 err="1"/>
              <a:t>sudo</a:t>
            </a:r>
            <a:r>
              <a:rPr lang="en-US" dirty="0"/>
              <a:t> apt-get install -y ca-certificates curl</a:t>
            </a:r>
            <a:br>
              <a:rPr dirty="0"/>
            </a:br>
            <a:br>
              <a:rPr dirty="0"/>
            </a:br>
            <a:r>
              <a:rPr dirty="0"/>
              <a:t># </a:t>
            </a:r>
            <a:r>
              <a:rPr lang="zh-CN" altLang="en-US" dirty="0"/>
              <a:t>创建</a:t>
            </a:r>
            <a:r>
              <a:rPr lang="en-US" altLang="zh-CN" dirty="0"/>
              <a:t>keyrings</a:t>
            </a:r>
            <a:r>
              <a:rPr lang="zh-CN" altLang="en-US" dirty="0"/>
              <a:t>目录并设置权限</a:t>
            </a:r>
            <a:br>
              <a:rPr dirty="0"/>
            </a:br>
            <a:r>
              <a:rPr lang="en-US" dirty="0" err="1"/>
              <a:t>sudo</a:t>
            </a:r>
            <a:r>
              <a:rPr lang="en-US" dirty="0"/>
              <a:t> install -m 0755 -d /</a:t>
            </a:r>
            <a:r>
              <a:rPr lang="en-US" dirty="0" err="1"/>
              <a:t>etc</a:t>
            </a:r>
            <a:r>
              <a:rPr lang="en-US" dirty="0"/>
              <a:t>/apt/keyrings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#</a:t>
            </a:r>
            <a:r>
              <a:rPr lang="zh-CN" altLang="en-US" dirty="0"/>
              <a:t>添加</a:t>
            </a:r>
            <a:r>
              <a:rPr lang="en-US" altLang="zh-CN" dirty="0"/>
              <a:t>GPG</a:t>
            </a:r>
            <a:r>
              <a:rPr lang="zh-CN" altLang="en-US" dirty="0"/>
              <a:t>密钥</a:t>
            </a:r>
            <a:endParaRPr lang="en-US" dirty="0"/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 err="1"/>
              <a:t>sudo</a:t>
            </a:r>
            <a:r>
              <a:rPr lang="en-US" dirty="0"/>
              <a:t> curl -</a:t>
            </a:r>
            <a:r>
              <a:rPr lang="en-US" dirty="0" err="1"/>
              <a:t>fsSL</a:t>
            </a:r>
            <a:r>
              <a:rPr lang="en-US" dirty="0"/>
              <a:t> https://download.docker.com/linux/ubuntu/gpg \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  -o /</a:t>
            </a:r>
            <a:r>
              <a:rPr lang="en-US" dirty="0" err="1"/>
              <a:t>etc</a:t>
            </a:r>
            <a:r>
              <a:rPr lang="en-US" dirty="0"/>
              <a:t>/apt/keyrings/</a:t>
            </a:r>
            <a:r>
              <a:rPr lang="en-US" dirty="0" err="1"/>
              <a:t>docker.asc</a:t>
            </a:r>
            <a:endParaRPr lang="en-US" dirty="0"/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endParaRPr lang="en-US" dirty="0"/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chmod</a:t>
            </a:r>
            <a:r>
              <a:rPr lang="en-US" dirty="0"/>
              <a:t> </a:t>
            </a:r>
            <a:r>
              <a:rPr lang="en-US" dirty="0" err="1"/>
              <a:t>a+r</a:t>
            </a:r>
            <a:r>
              <a:rPr lang="en-US" dirty="0"/>
              <a:t> /</a:t>
            </a:r>
            <a:r>
              <a:rPr lang="en-US" dirty="0" err="1"/>
              <a:t>etc</a:t>
            </a:r>
            <a:r>
              <a:rPr lang="en-US" dirty="0"/>
              <a:t>/apt/keyrings/</a:t>
            </a:r>
            <a:r>
              <a:rPr lang="en-US" dirty="0" err="1"/>
              <a:t>docker.asc</a:t>
            </a:r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步骤4：安装Docker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1371600"/>
            <a:ext cx="8308963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安装依赖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添加Docker官方GPG密钥</a:t>
            </a:r>
            <a:r>
              <a:rPr lang="zh-CN" altLang="en-US" dirty="0"/>
              <a:t>（用来验证</a:t>
            </a:r>
            <a:r>
              <a:rPr lang="en-US" altLang="zh-CN" dirty="0"/>
              <a:t>docker</a:t>
            </a:r>
            <a:r>
              <a:rPr lang="zh-CN" altLang="en-US" dirty="0"/>
              <a:t>软件来源真实性和完整性）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添加Docker软件源</a:t>
            </a:r>
            <a:r>
              <a:rPr lang="zh-CN" altLang="en-US" dirty="0"/>
              <a:t>（用来告诉</a:t>
            </a:r>
            <a:r>
              <a:rPr lang="en-US" altLang="zh-CN" dirty="0"/>
              <a:t>APT</a:t>
            </a:r>
            <a:r>
              <a:rPr lang="zh-CN" altLang="en-US" dirty="0"/>
              <a:t>去哪里下载</a:t>
            </a:r>
            <a:r>
              <a:rPr lang="en-US" altLang="zh-CN" dirty="0"/>
              <a:t>docker</a:t>
            </a:r>
            <a:r>
              <a:rPr lang="zh-CN" altLang="en-US" dirty="0"/>
              <a:t>）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安装Docker引擎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88654" y="3394493"/>
            <a:ext cx="10341346" cy="2760453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# </a:t>
            </a:r>
            <a:r>
              <a:rPr lang="zh-CN" altLang="en-US" dirty="0"/>
              <a:t>添加</a:t>
            </a:r>
            <a:r>
              <a:rPr lang="en-US" altLang="zh-CN" dirty="0"/>
              <a:t>Docker</a:t>
            </a:r>
            <a:r>
              <a:rPr lang="zh-CN" altLang="en-US" dirty="0"/>
              <a:t>软件源</a:t>
            </a:r>
            <a:endParaRPr lang="en-US" altLang="zh-CN" dirty="0"/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endParaRPr lang="en-US" altLang="zh-CN" dirty="0"/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echo \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  "deb [arch=$(</a:t>
            </a:r>
            <a:r>
              <a:rPr lang="en-US" dirty="0" err="1"/>
              <a:t>dpkg</a:t>
            </a:r>
            <a:r>
              <a:rPr lang="en-US" dirty="0"/>
              <a:t> --print-architecture) signed-by=/</a:t>
            </a:r>
            <a:r>
              <a:rPr lang="en-US" dirty="0" err="1"/>
              <a:t>etc</a:t>
            </a:r>
            <a:r>
              <a:rPr lang="en-US" dirty="0"/>
              <a:t>/apt/keyrings/</a:t>
            </a:r>
            <a:r>
              <a:rPr lang="en-US" dirty="0" err="1"/>
              <a:t>docker.asc</a:t>
            </a:r>
            <a:r>
              <a:rPr lang="en-US" dirty="0"/>
              <a:t>] https://download.docker.com/linux/ubuntu \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  $(.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os</a:t>
            </a:r>
            <a:r>
              <a:rPr lang="en-US" dirty="0"/>
              <a:t>-release &amp;&amp; echo "${UBUNTU_CODENAME:-$VERSION_CODENAME}") stable" | \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  </a:t>
            </a:r>
            <a:r>
              <a:rPr lang="en-US" dirty="0" err="1"/>
              <a:t>sudo</a:t>
            </a:r>
            <a:r>
              <a:rPr lang="en-US" dirty="0"/>
              <a:t> tee /</a:t>
            </a:r>
            <a:r>
              <a:rPr lang="en-US" dirty="0" err="1"/>
              <a:t>etc</a:t>
            </a:r>
            <a:r>
              <a:rPr lang="en-US" dirty="0"/>
              <a:t>/apt/</a:t>
            </a:r>
            <a:r>
              <a:rPr lang="en-US" dirty="0" err="1"/>
              <a:t>sources.list.d</a:t>
            </a:r>
            <a:r>
              <a:rPr lang="en-US" dirty="0"/>
              <a:t>/</a:t>
            </a:r>
            <a:r>
              <a:rPr lang="en-US" dirty="0" err="1"/>
              <a:t>docker.list</a:t>
            </a:r>
            <a:r>
              <a:rPr lang="en-US" dirty="0"/>
              <a:t> &gt; /dev/null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42913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步骤4：安装Docker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19" y="1371600"/>
            <a:ext cx="8308963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安装依赖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添加Docker官方GPG密钥</a:t>
            </a:r>
            <a:r>
              <a:rPr lang="zh-CN" altLang="en-US" dirty="0"/>
              <a:t>（用来验证</a:t>
            </a:r>
            <a:r>
              <a:rPr lang="en-US" altLang="zh-CN" dirty="0"/>
              <a:t>docker</a:t>
            </a:r>
            <a:r>
              <a:rPr lang="zh-CN" altLang="en-US" dirty="0"/>
              <a:t>软件来源真实性和完整性）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添加Docker软件源</a:t>
            </a:r>
            <a:r>
              <a:rPr lang="zh-CN" altLang="en-US" dirty="0"/>
              <a:t>（用来告诉</a:t>
            </a:r>
            <a:r>
              <a:rPr lang="en-US" altLang="zh-CN" dirty="0"/>
              <a:t>APT</a:t>
            </a:r>
            <a:r>
              <a:rPr lang="zh-CN" altLang="en-US" dirty="0"/>
              <a:t>去哪里下载</a:t>
            </a:r>
            <a:r>
              <a:rPr lang="en-US" altLang="zh-CN" dirty="0"/>
              <a:t>docker</a:t>
            </a:r>
            <a:r>
              <a:rPr lang="zh-CN" altLang="en-US" dirty="0"/>
              <a:t>）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安装Docker引擎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088654" y="3394493"/>
            <a:ext cx="11103346" cy="2760453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#</a:t>
            </a:r>
            <a:r>
              <a:rPr lang="zh-CN" altLang="en-US" dirty="0"/>
              <a:t>安装</a:t>
            </a:r>
            <a:r>
              <a:rPr lang="en-US" altLang="zh-CN" dirty="0" err="1"/>
              <a:t>DockerEngine</a:t>
            </a:r>
            <a:r>
              <a:rPr lang="zh-CN" altLang="en-US" dirty="0"/>
              <a:t>、</a:t>
            </a:r>
            <a:r>
              <a:rPr lang="en-US" altLang="zh-CN" dirty="0" err="1"/>
              <a:t>Buildx</a:t>
            </a:r>
            <a:r>
              <a:rPr lang="zh-CN" altLang="en-US" dirty="0"/>
              <a:t>、</a:t>
            </a:r>
            <a:r>
              <a:rPr lang="en-US" altLang="zh-CN" dirty="0"/>
              <a:t>Compose</a:t>
            </a:r>
            <a:r>
              <a:rPr lang="zh-CN" altLang="en-US" dirty="0"/>
              <a:t>插件</a:t>
            </a:r>
            <a:endParaRPr lang="en-US" altLang="zh-CN" dirty="0"/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 err="1"/>
              <a:t>sudo</a:t>
            </a:r>
            <a:r>
              <a:rPr lang="en-US" dirty="0"/>
              <a:t> apt-get update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 err="1"/>
              <a:t>sudo</a:t>
            </a:r>
            <a:r>
              <a:rPr lang="en-US" dirty="0"/>
              <a:t> apt-get install -y docker-</a:t>
            </a:r>
            <a:r>
              <a:rPr lang="en-US" dirty="0" err="1"/>
              <a:t>ce</a:t>
            </a:r>
            <a:r>
              <a:rPr lang="en-US" dirty="0"/>
              <a:t> docker-</a:t>
            </a:r>
            <a:r>
              <a:rPr lang="en-US" dirty="0" err="1"/>
              <a:t>ce</a:t>
            </a:r>
            <a:r>
              <a:rPr lang="en-US" dirty="0"/>
              <a:t>-cli containerd.io docker-</a:t>
            </a:r>
            <a:r>
              <a:rPr lang="en-US" dirty="0" err="1"/>
              <a:t>buildx</a:t>
            </a:r>
            <a:r>
              <a:rPr lang="en-US" dirty="0"/>
              <a:t>-plugin docker-compose-plugin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br>
              <a:rPr lang="en-US" dirty="0"/>
            </a:br>
            <a:r>
              <a:rPr lang="en-US" dirty="0"/>
              <a:t>#</a:t>
            </a:r>
            <a:r>
              <a:rPr lang="zh-CN" altLang="en-US" dirty="0"/>
              <a:t>启动并设置开机自启</a:t>
            </a:r>
            <a:br>
              <a:rPr lang="en-US" dirty="0"/>
            </a:b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enable --now docker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status docker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33155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步骤5：配置镜像加速器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国内访问Docker</a:t>
            </a:r>
            <a:r>
              <a:rPr dirty="0"/>
              <a:t> </a:t>
            </a:r>
            <a:r>
              <a:rPr dirty="0" err="1"/>
              <a:t>Hub较慢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配置</a:t>
            </a:r>
            <a:r>
              <a:rPr lang="zh-CN" altLang="en-US" b="1" dirty="0"/>
              <a:t>阿里云</a:t>
            </a:r>
            <a:r>
              <a:rPr dirty="0" err="1"/>
              <a:t>镜像加速提升拉取速度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创建配置文件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重启Docker服务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327804" y="3033593"/>
            <a:ext cx="11376516" cy="3367207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mkdir</a:t>
            </a:r>
            <a:r>
              <a:rPr lang="en-US" dirty="0"/>
              <a:t> -p /</a:t>
            </a:r>
            <a:r>
              <a:rPr lang="en-US" dirty="0" err="1"/>
              <a:t>etc</a:t>
            </a:r>
            <a:r>
              <a:rPr lang="en-US" dirty="0"/>
              <a:t>/docker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 err="1"/>
              <a:t>sudo</a:t>
            </a:r>
            <a:r>
              <a:rPr lang="en-US" dirty="0"/>
              <a:t> tee /</a:t>
            </a:r>
            <a:r>
              <a:rPr lang="en-US" dirty="0" err="1"/>
              <a:t>etc</a:t>
            </a:r>
            <a:r>
              <a:rPr lang="en-US" dirty="0"/>
              <a:t>/docker/</a:t>
            </a:r>
            <a:r>
              <a:rPr lang="en-US" dirty="0" err="1"/>
              <a:t>daemon.json</a:t>
            </a:r>
            <a:r>
              <a:rPr lang="en-US" dirty="0"/>
              <a:t> &lt;&lt;-'EOF'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{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  "registry-mirrors": [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    "https://1c5l4nm3.mirror.aliyuncs.com",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       "https://docker.m.daocloud.io",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       "https://atomhub.openatom.cn",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       "https://docker.unsee.tech",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       "https://docker.1panel.live"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  ]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} 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EOF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daemon-reload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 err="1"/>
              <a:t>systemctl</a:t>
            </a:r>
            <a:r>
              <a:rPr lang="en-US" dirty="0"/>
              <a:t> restart docker</a:t>
            </a:r>
          </a:p>
        </p:txBody>
      </p:sp>
    </p:spTree>
    <p:extLst>
      <p:ext uri="{BB962C8B-B14F-4D97-AF65-F5344CB8AC3E}">
        <p14:creationId xmlns:p14="http://schemas.microsoft.com/office/powerpoint/2010/main" val="10574440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步骤6：验证Docker安装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检查Docker版本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运行测试容器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确认Docker正常工作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查看版本</a:t>
            </a:r>
            <a:br>
              <a:rPr dirty="0"/>
            </a:br>
            <a:r>
              <a:rPr dirty="0"/>
              <a:t>docker --version</a:t>
            </a:r>
            <a:br>
              <a:rPr dirty="0"/>
            </a:br>
            <a:br>
              <a:rPr dirty="0"/>
            </a:br>
            <a:r>
              <a:rPr dirty="0"/>
              <a:t># </a:t>
            </a:r>
            <a:r>
              <a:rPr dirty="0" err="1"/>
              <a:t>运行测试容器</a:t>
            </a:r>
            <a:br>
              <a:rPr dirty="0"/>
            </a:br>
            <a:r>
              <a:rPr dirty="0"/>
              <a:t>docker run hello-world</a:t>
            </a:r>
            <a:br>
              <a:rPr dirty="0"/>
            </a:br>
            <a:br>
              <a:rPr dirty="0"/>
            </a:br>
            <a:r>
              <a:rPr dirty="0"/>
              <a:t># </a:t>
            </a:r>
            <a:r>
              <a:rPr dirty="0" err="1"/>
              <a:t>查看运行状态</a:t>
            </a:r>
            <a:br>
              <a:rPr dirty="0"/>
            </a:br>
            <a:r>
              <a:rPr lang="en-US" dirty="0"/>
              <a:t>docker </a:t>
            </a:r>
            <a:r>
              <a:rPr lang="en-US" dirty="0" err="1"/>
              <a:t>ps</a:t>
            </a:r>
            <a:br>
              <a:rPr dirty="0"/>
            </a:br>
            <a:br>
              <a:rPr dirty="0"/>
            </a:br>
            <a:r>
              <a:rPr dirty="0"/>
              <a:t># </a:t>
            </a:r>
            <a:r>
              <a:rPr lang="zh-CN" altLang="en-US" dirty="0"/>
              <a:t>查看镜像加速</a:t>
            </a:r>
            <a:br>
              <a:rPr dirty="0"/>
            </a:br>
            <a:r>
              <a:rPr lang="en-US" dirty="0"/>
              <a:t>docker info | grep -A20 "Registry Mirrors"</a:t>
            </a:r>
            <a:endParaRPr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第四部分：Docker标准化部署流程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Docker上云标准流程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36576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写Dockerfile</a:t>
            </a:r>
          </a:p>
          <a:p>
            <a:pPr algn="ctr">
              <a:defRPr sz="1400">
                <a:solidFill>
                  <a:srgbClr val="BBDEFB"/>
                </a:solidFill>
              </a:defRPr>
            </a:pPr>
            <a:r>
              <a:t>定义环境和依赖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828800"/>
            <a:ext cx="2560320" cy="36576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Build构建镜像</a:t>
            </a:r>
          </a:p>
          <a:p>
            <a:pPr algn="ctr">
              <a:defRPr sz="1400">
                <a:solidFill>
                  <a:srgbClr val="BBDEFB"/>
                </a:solidFill>
              </a:defRPr>
            </a:pPr>
            <a:r>
              <a:t>打包应用和环境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28800"/>
            <a:ext cx="2560320" cy="36576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C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Push推送到仓库</a:t>
            </a:r>
          </a:p>
          <a:p>
            <a:pPr algn="ctr">
              <a:defRPr sz="1400">
                <a:solidFill>
                  <a:srgbClr val="BBDEFB"/>
                </a:solidFill>
              </a:defRPr>
            </a:pPr>
            <a:r>
              <a:t>存储和版本管理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828800"/>
            <a:ext cx="2560320" cy="3657600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</a:t>
            </a:r>
          </a:p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Run启动实例</a:t>
            </a:r>
          </a:p>
          <a:p>
            <a:pPr algn="ctr">
              <a:defRPr sz="1400">
                <a:solidFill>
                  <a:srgbClr val="BBDEFB"/>
                </a:solidFill>
              </a:defRPr>
            </a:pPr>
            <a:r>
              <a:t>部署并运行应用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A：编写Dockerfile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定义基础镜像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设置工作目录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复制依赖文件并安装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复制项目代码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定义启动命令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295106-F72B-1084-29B5-67C47C48F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5677" y="1714971"/>
            <a:ext cx="8457143" cy="377142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Step B：构建镜像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使用docker build构建镜像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指定镜像名称和标签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查看构建的镜像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本地测试运行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165894"/>
            <a:ext cx="11247120" cy="3234905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altLang="zh-CN" dirty="0"/>
              <a:t># </a:t>
            </a:r>
            <a:r>
              <a:rPr lang="zh-CN" altLang="en-US" dirty="0"/>
              <a:t>构建镜像</a:t>
            </a:r>
            <a:br>
              <a:rPr lang="zh-CN" altLang="en-US" dirty="0"/>
            </a:br>
            <a:r>
              <a:rPr lang="en-US" dirty="0"/>
              <a:t>docker build -f docker/</a:t>
            </a:r>
            <a:r>
              <a:rPr lang="en-US" dirty="0" err="1"/>
              <a:t>storage.Dockerfile</a:t>
            </a:r>
            <a:r>
              <a:rPr lang="en-US" dirty="0"/>
              <a:t> -t game-storage:v1.0 .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docker build -f docker/</a:t>
            </a:r>
            <a:r>
              <a:rPr lang="en-US" dirty="0" err="1"/>
              <a:t>game.Dockerfile</a:t>
            </a:r>
            <a:r>
              <a:rPr lang="en-US" dirty="0"/>
              <a:t> -t game-service:v1.0 .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docker build -f docker/</a:t>
            </a:r>
            <a:r>
              <a:rPr lang="en-US" dirty="0" err="1"/>
              <a:t>gateway.Dockerfile</a:t>
            </a:r>
            <a:r>
              <a:rPr lang="en-US" dirty="0"/>
              <a:t> -t game-gateway:v1.0 .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br>
              <a:rPr lang="en-US" dirty="0"/>
            </a:br>
            <a:r>
              <a:rPr lang="en-US" dirty="0"/>
              <a:t># </a:t>
            </a:r>
            <a:r>
              <a:rPr lang="zh-CN" altLang="en-US" dirty="0"/>
              <a:t>查看镜像</a:t>
            </a:r>
            <a:br>
              <a:rPr lang="zh-CN" altLang="en-US" dirty="0"/>
            </a:br>
            <a:r>
              <a:rPr lang="en-US" dirty="0"/>
              <a:t>docker images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7956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/>
              <a:t>Step </a:t>
            </a:r>
            <a:r>
              <a:rPr dirty="0" err="1"/>
              <a:t>C：推送到阿里云仓库</a:t>
            </a:r>
            <a:r>
              <a:rPr lang="zh-CN" altLang="en-US" dirty="0"/>
              <a:t>（选做）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创建阿里云容器镜像服务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登录镜像仓库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给镜像打标签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t>• 推送镜像到仓库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6981" y="3355674"/>
            <a:ext cx="11057339" cy="3045125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dirty="0"/>
              <a:t># </a:t>
            </a:r>
            <a:r>
              <a:rPr dirty="0" err="1"/>
              <a:t>登录阿里云仓库</a:t>
            </a:r>
            <a:br>
              <a:rPr dirty="0"/>
            </a:br>
            <a:r>
              <a:rPr dirty="0"/>
              <a:t>docker login --username=</a:t>
            </a:r>
            <a:r>
              <a:rPr dirty="0" err="1"/>
              <a:t>用户名</a:t>
            </a:r>
            <a:r>
              <a:rPr dirty="0"/>
              <a:t> \</a:t>
            </a:r>
            <a:br>
              <a:rPr dirty="0"/>
            </a:br>
            <a:r>
              <a:rPr dirty="0"/>
              <a:t>  registry.cn-shenzhen.aliyuncs.com</a:t>
            </a:r>
            <a:br>
              <a:rPr dirty="0"/>
            </a:br>
            <a:br>
              <a:rPr dirty="0"/>
            </a:br>
            <a:r>
              <a:rPr dirty="0"/>
              <a:t># </a:t>
            </a:r>
            <a:r>
              <a:rPr dirty="0" err="1"/>
              <a:t>打标签</a:t>
            </a:r>
            <a:br>
              <a:rPr dirty="0"/>
            </a:br>
            <a:r>
              <a:rPr dirty="0"/>
              <a:t>docker tag myapp:v1.0 \</a:t>
            </a:r>
            <a:br>
              <a:rPr dirty="0"/>
            </a:br>
            <a:r>
              <a:rPr dirty="0"/>
              <a:t>  registry.cn-shenzhen.aliyuncs.com</a:t>
            </a:r>
            <a:br>
              <a:rPr dirty="0"/>
            </a:br>
            <a:r>
              <a:rPr dirty="0"/>
              <a:t>  /namespace/myapp:v1.0</a:t>
            </a:r>
            <a:br>
              <a:rPr dirty="0"/>
            </a:br>
            <a:br>
              <a:rPr dirty="0"/>
            </a:br>
            <a:r>
              <a:rPr dirty="0"/>
              <a:t># </a:t>
            </a:r>
            <a:r>
              <a:rPr dirty="0" err="1"/>
              <a:t>推送</a:t>
            </a:r>
            <a:br>
              <a:rPr dirty="0"/>
            </a:br>
            <a:r>
              <a:rPr dirty="0"/>
              <a:t>docker push \</a:t>
            </a:r>
            <a:br>
              <a:rPr dirty="0"/>
            </a:br>
            <a:r>
              <a:rPr dirty="0"/>
              <a:t>  registry.cn-shenzhen.aliyuncs.com</a:t>
            </a:r>
            <a:br>
              <a:rPr dirty="0"/>
            </a:br>
            <a:r>
              <a:rPr dirty="0"/>
              <a:t>  /namespace/myapp:v1.0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620439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dirty="0"/>
              <a:t>Step D：</a:t>
            </a:r>
            <a:r>
              <a:rPr lang="zh-CN" altLang="en-US" dirty="0"/>
              <a:t>启动并挂载数据卷（持久化）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8239952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en-US" altLang="zh-CN" dirty="0"/>
              <a:t>•</a:t>
            </a:r>
            <a:r>
              <a:rPr lang="zh-CN" altLang="en-US" dirty="0"/>
              <a:t>启动并挂载数据卷（持久化）</a:t>
            </a:r>
            <a:endParaRPr lang="en-US" altLang="zh-CN"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映射端口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en-US" altLang="zh-CN" dirty="0"/>
              <a:t>• </a:t>
            </a:r>
            <a:r>
              <a:rPr lang="zh-CN" altLang="en-US" dirty="0"/>
              <a:t>数据持久化存储</a:t>
            </a:r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en-US" altLang="zh-CN" dirty="0"/>
              <a:t>• </a:t>
            </a:r>
            <a:r>
              <a:rPr lang="zh-CN" altLang="en-US" dirty="0"/>
              <a:t>容器删除数据不丢失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73415" y="3429000"/>
            <a:ext cx="10444863" cy="29718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altLang="zh-CN" dirty="0" err="1"/>
              <a:t>mkdir</a:t>
            </a:r>
            <a:r>
              <a:rPr lang="en-US" altLang="zh-CN" dirty="0"/>
              <a:t> data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altLang="zh-CN" dirty="0"/>
              <a:t>docker network create game-net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altLang="zh-CN" dirty="0"/>
              <a:t>docker run -d --name storage --network game-net -v ${PWD}/data:/app/data game-storage:v1.0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altLang="zh-CN" dirty="0"/>
              <a:t>docker run -d --name game-service --network game-net -e STORAGE_URL=http://storage:8082 game-service:v1.0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altLang="zh-CN" dirty="0"/>
              <a:t>docker run -d --name gateway --network game-net -p 18080:8080 -e GAME_URL=http://game-service:8081 game-gateway:v1.0</a:t>
            </a:r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1608"/>
            <a:ext cx="27093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zh-CN" altLang="en-US" dirty="0"/>
              <a:t>容器启动成功？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14883"/>
            <a:ext cx="6923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当所有容器都正常启动后，你以为万事大吉了，结果</a:t>
            </a:r>
            <a:r>
              <a:rPr lang="en-US" altLang="zh-CN" dirty="0"/>
              <a:t>bug</a:t>
            </a:r>
            <a:r>
              <a:rPr lang="zh-CN" altLang="en-US" dirty="0"/>
              <a:t>如期而至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0108DB-99E2-6CBD-D74A-71B6BF3B8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74" y="1610436"/>
            <a:ext cx="10428571" cy="771429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782C4CBC-C604-7FC4-B545-4388E5F567C4}"/>
              </a:ext>
            </a:extLst>
          </p:cNvPr>
          <p:cNvSpPr txBox="1"/>
          <p:nvPr/>
        </p:nvSpPr>
        <p:spPr>
          <a:xfrm>
            <a:off x="448574" y="1241104"/>
            <a:ext cx="69235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所有容器全部成功启动！</a:t>
            </a:r>
            <a:endParaRPr lang="en-US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58050E97-107E-E9BC-B8A6-A57626022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830" y="3221965"/>
            <a:ext cx="4636811" cy="275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8613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6677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zh-CN" altLang="en-US" dirty="0"/>
              <a:t>本地连接</a:t>
            </a:r>
            <a:r>
              <a:rPr lang="en-US" altLang="zh-CN" dirty="0"/>
              <a:t>Server</a:t>
            </a:r>
            <a:r>
              <a:rPr lang="zh-CN" altLang="en-US" dirty="0"/>
              <a:t>问题：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9496" y="1733779"/>
            <a:ext cx="332114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这里通过本地去访问</a:t>
            </a:r>
            <a:br>
              <a:rPr lang="en-US" altLang="zh-CN" dirty="0"/>
            </a:b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公网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IP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：</a:t>
            </a:r>
            <a:r>
              <a:rPr lang="en-US" altLang="zh-CN" dirty="0">
                <a:solidFill>
                  <a:srgbClr val="FF0000"/>
                </a:solidFill>
                <a:highlight>
                  <a:srgbClr val="FFFF00"/>
                </a:highlight>
              </a:rPr>
              <a:t>18080</a:t>
            </a:r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端口</a:t>
            </a:r>
            <a:r>
              <a:rPr lang="zh-CN" altLang="en-US" dirty="0"/>
              <a:t>会无法成功！</a:t>
            </a:r>
            <a:br>
              <a:rPr lang="en-US" altLang="zh-CN" dirty="0"/>
            </a:br>
            <a:r>
              <a:rPr lang="zh-CN" altLang="en-US" dirty="0"/>
              <a:t>因为</a:t>
            </a:r>
            <a:r>
              <a:rPr lang="en-US" altLang="zh-CN" dirty="0"/>
              <a:t>ECS</a:t>
            </a:r>
            <a:r>
              <a:rPr lang="zh-CN" altLang="en-US" dirty="0"/>
              <a:t>安全组里没有放行。</a:t>
            </a:r>
            <a:endParaRPr lang="en-US" altLang="zh-CN"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请记得放行端口。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676492A-0DC3-9571-E701-08AEF92E8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2661" y="1097280"/>
            <a:ext cx="7756901" cy="560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0261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98804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zh-CN" altLang="en-US" dirty="0"/>
              <a:t>主动拒绝？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674" y="1466360"/>
            <a:ext cx="8484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放行端口之后，为啥还是访问不成功，而且</a:t>
            </a:r>
            <a:r>
              <a:rPr lang="en-US" altLang="zh-CN" dirty="0"/>
              <a:t>server</a:t>
            </a:r>
            <a:r>
              <a:rPr lang="zh-CN" altLang="en-US" dirty="0"/>
              <a:t>还主动拒绝了我的连接！？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5F00214-FD16-6E08-7669-CB3D14776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361" y="2128942"/>
            <a:ext cx="6766858" cy="3441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1981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zh-CN" altLang="en-US" dirty="0"/>
              <a:t>进入容器调试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进入运行中的容器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查看容器内文件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查看应用日志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</a:t>
            </a:r>
            <a:r>
              <a:rPr dirty="0" err="1"/>
              <a:t>调试和排查问题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altLang="zh-CN" dirty="0"/>
              <a:t># </a:t>
            </a:r>
            <a:r>
              <a:rPr lang="zh-CN" altLang="en-US" dirty="0"/>
              <a:t>进入容器</a:t>
            </a:r>
            <a:br>
              <a:rPr lang="zh-CN" altLang="en-US" dirty="0"/>
            </a:br>
            <a:r>
              <a:rPr lang="en-US" dirty="0"/>
              <a:t>docker exec -it </a:t>
            </a:r>
            <a:r>
              <a:rPr lang="en-US" altLang="zh-CN" dirty="0"/>
              <a:t>gateway</a:t>
            </a:r>
            <a:r>
              <a:rPr lang="en-US" dirty="0"/>
              <a:t> /bin/bash</a:t>
            </a:r>
            <a:br>
              <a:rPr lang="en-US" dirty="0"/>
            </a:br>
            <a:br>
              <a:rPr lang="en-US" dirty="0"/>
            </a:br>
            <a:r>
              <a:rPr lang="en-US" dirty="0"/>
              <a:t># </a:t>
            </a:r>
            <a:r>
              <a:rPr lang="zh-CN" altLang="en-US" dirty="0"/>
              <a:t>查看环境变量</a:t>
            </a:r>
            <a:br>
              <a:rPr lang="zh-CN" altLang="en-US" dirty="0"/>
            </a:br>
            <a:r>
              <a:rPr lang="en-US" dirty="0"/>
              <a:t>env</a:t>
            </a:r>
            <a:br>
              <a:rPr lang="en-US" dirty="0"/>
            </a:br>
            <a:br>
              <a:rPr lang="en-US" dirty="0"/>
            </a:br>
            <a:r>
              <a:rPr lang="en-US" dirty="0"/>
              <a:t># </a:t>
            </a:r>
            <a:r>
              <a:rPr lang="zh-CN" altLang="en-US" dirty="0"/>
              <a:t>退出容器</a:t>
            </a:r>
            <a:br>
              <a:rPr lang="zh-CN" altLang="en-US" dirty="0"/>
            </a:br>
            <a:r>
              <a:rPr lang="en-US" dirty="0"/>
              <a:t>exit</a:t>
            </a:r>
            <a:br>
              <a:rPr lang="en-US" dirty="0"/>
            </a:br>
            <a:br>
              <a:rPr lang="en-US" dirty="0"/>
            </a:br>
            <a:r>
              <a:rPr lang="en-US" dirty="0"/>
              <a:t># </a:t>
            </a:r>
            <a:r>
              <a:rPr lang="zh-CN" altLang="en-US" dirty="0"/>
              <a:t>查看容器日志</a:t>
            </a:r>
            <a:br>
              <a:rPr lang="zh-CN" altLang="en-US" dirty="0"/>
            </a:br>
            <a:r>
              <a:rPr lang="en-US" dirty="0"/>
              <a:t>docker logs --tail=200 gateway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docker logs --tail=200 game-service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docker logs --tail=200 storage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62897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zh-CN" altLang="en-US" dirty="0"/>
              <a:t>打印日志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903C719-6D0A-F05E-4DEE-E8B026A159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655" y="1896449"/>
            <a:ext cx="7904762" cy="1219048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1185EF6D-A44F-0395-CF47-6731C4DBF788}"/>
              </a:ext>
            </a:extLst>
          </p:cNvPr>
          <p:cNvSpPr txBox="1"/>
          <p:nvPr/>
        </p:nvSpPr>
        <p:spPr>
          <a:xfrm>
            <a:off x="598674" y="1466360"/>
            <a:ext cx="8484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可以看到并没有报错！</a:t>
            </a:r>
            <a:endParaRPr lang="en-US" altLang="zh-CN" dirty="0"/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1FDFDCA6-C734-F3C4-AC0F-8418E1A1C475}"/>
              </a:ext>
            </a:extLst>
          </p:cNvPr>
          <p:cNvSpPr txBox="1"/>
          <p:nvPr/>
        </p:nvSpPr>
        <p:spPr>
          <a:xfrm>
            <a:off x="588627" y="3244334"/>
            <a:ext cx="8484941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“抛开事实不谈（手动狗头），你没报错你就没错吗？”</a:t>
            </a:r>
            <a:endParaRPr lang="en-US" altLang="zh-CN"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进入容器看下容器之间是否能互通？</a:t>
            </a:r>
            <a:endParaRPr lang="en-US" altLang="zh-CN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017FF89-70C8-A4DC-B0D1-D3C207DFA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022" y="4044553"/>
            <a:ext cx="11890420" cy="1661162"/>
          </a:xfrm>
          <a:prstGeom prst="rect">
            <a:avLst/>
          </a:prstGeom>
        </p:spPr>
      </p:pic>
      <p:sp>
        <p:nvSpPr>
          <p:cNvPr id="16" name="TextBox 3">
            <a:extLst>
              <a:ext uri="{FF2B5EF4-FFF2-40B4-BE49-F238E27FC236}">
                <a16:creationId xmlns:a16="http://schemas.microsoft.com/office/drawing/2014/main" id="{AEA29E5A-5FE1-B06C-A475-37A5D1E85087}"/>
              </a:ext>
            </a:extLst>
          </p:cNvPr>
          <p:cNvSpPr txBox="1"/>
          <p:nvPr/>
        </p:nvSpPr>
        <p:spPr>
          <a:xfrm>
            <a:off x="588626" y="5881454"/>
            <a:ext cx="84849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我要访问你的</a:t>
            </a:r>
            <a:r>
              <a:rPr lang="en-US" altLang="zh-CN" dirty="0"/>
              <a:t>172.18.0.3:8081</a:t>
            </a:r>
            <a:r>
              <a:rPr lang="zh-CN" altLang="en-US" dirty="0"/>
              <a:t>，你就却只监听</a:t>
            </a:r>
            <a:r>
              <a:rPr lang="en-US" altLang="zh-CN" dirty="0"/>
              <a:t>127.0.0.1:8081</a:t>
            </a:r>
            <a:r>
              <a:rPr lang="zh-CN" altLang="en-US" dirty="0"/>
              <a:t>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691979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6273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zh-CN" altLang="en-US" dirty="0"/>
              <a:t>追溯源码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863" y="1556205"/>
            <a:ext cx="4913877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原因是：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代码里默认监听地址是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127.0.0.1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，它只监听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当前容器/主机内部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的回环网卡。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因此，来自其他容器、宿主机或外部客户端的请求无法访问这个服务端口，会出现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Connection refused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解决办法：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把服务监听地址改成 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0.0.0.0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，表示监听当前容器/主机上的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</a:rPr>
              <a:t>所有网卡地址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这样 Docker 网络中的其他容器，以及通过端口映射进入的外部请求，才能访问到该服务。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7AFA55-2172-E3BA-C0A2-EA022646EAA2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r="51958"/>
          <a:stretch/>
        </p:blipFill>
        <p:spPr>
          <a:xfrm>
            <a:off x="5991854" y="1464826"/>
            <a:ext cx="5857336" cy="529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4195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6273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zh-CN" altLang="en-US" dirty="0"/>
              <a:t>挂载成功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30763C8-1622-E0C7-8EE9-0A6DF54674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268" y="2510288"/>
            <a:ext cx="8755158" cy="2993364"/>
          </a:xfrm>
          <a:prstGeom prst="rect">
            <a:avLst/>
          </a:prstGeom>
        </p:spPr>
      </p:pic>
      <p:sp>
        <p:nvSpPr>
          <p:cNvPr id="8" name="TextBox 3">
            <a:extLst>
              <a:ext uri="{FF2B5EF4-FFF2-40B4-BE49-F238E27FC236}">
                <a16:creationId xmlns:a16="http://schemas.microsoft.com/office/drawing/2014/main" id="{EFF6F65C-C222-57E8-1B5F-7285C24F303F}"/>
              </a:ext>
            </a:extLst>
          </p:cNvPr>
          <p:cNvSpPr txBox="1"/>
          <p:nvPr/>
        </p:nvSpPr>
        <p:spPr>
          <a:xfrm>
            <a:off x="356863" y="1556205"/>
            <a:ext cx="106849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在客户端移动后，可在宿主机的日志中看到内容，则挂载成功，且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服务正常运行。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498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584788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dirty="0" err="1"/>
              <a:t>第五部分：</a:t>
            </a:r>
            <a:r>
              <a:rPr lang="en-US" altLang="zh-CN" dirty="0" err="1"/>
              <a:t>DockerCompose</a:t>
            </a:r>
            <a:r>
              <a:rPr lang="zh-CN" altLang="en-US" dirty="0"/>
              <a:t>编排启动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0525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altLang="zh-CN" dirty="0" err="1"/>
              <a:t>DockerCompose</a:t>
            </a:r>
            <a:r>
              <a:rPr lang="zh-CN" altLang="en-US" dirty="0"/>
              <a:t>编排启动</a:t>
            </a:r>
            <a:endParaRPr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0697D29-4F81-F81F-D838-D645E605F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1981" y="1268082"/>
            <a:ext cx="5388589" cy="5512279"/>
          </a:xfrm>
          <a:prstGeom prst="rect">
            <a:avLst/>
          </a:prstGeom>
        </p:spPr>
      </p:pic>
      <p:sp>
        <p:nvSpPr>
          <p:cNvPr id="7" name="TextBox 3">
            <a:extLst>
              <a:ext uri="{FF2B5EF4-FFF2-40B4-BE49-F238E27FC236}">
                <a16:creationId xmlns:a16="http://schemas.microsoft.com/office/drawing/2014/main" id="{DA9B429A-7E33-C4DA-EF65-B569ED2F28F7}"/>
              </a:ext>
            </a:extLst>
          </p:cNvPr>
          <p:cNvSpPr txBox="1"/>
          <p:nvPr/>
        </p:nvSpPr>
        <p:spPr>
          <a:xfrm>
            <a:off x="365760" y="1759788"/>
            <a:ext cx="4361515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编写</a:t>
            </a:r>
            <a:r>
              <a:rPr lang="en-US" altLang="zh-CN" dirty="0" err="1"/>
              <a:t>DockerCompose</a:t>
            </a:r>
            <a:r>
              <a:rPr lang="zh-CN" altLang="en-US" dirty="0"/>
              <a:t>的</a:t>
            </a:r>
            <a:r>
              <a:rPr lang="en-US" altLang="zh-CN" dirty="0" err="1"/>
              <a:t>yaml</a:t>
            </a:r>
            <a:r>
              <a:rPr lang="zh-CN" altLang="en-US" dirty="0"/>
              <a:t>配置文件</a:t>
            </a:r>
            <a:endParaRPr lang="en-US" altLang="zh-CN"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lang="zh-CN" altLang="en-US" dirty="0"/>
              <a:t>这里已经提前给出。</a:t>
            </a:r>
            <a:endParaRPr lang="en-US" altLang="zh-CN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2986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zh-CN" altLang="en-US" dirty="0"/>
              <a:t>使用</a:t>
            </a:r>
            <a:r>
              <a:rPr lang="en-US" altLang="zh-CN" dirty="0" err="1"/>
              <a:t>DockerCompose</a:t>
            </a:r>
            <a:r>
              <a:rPr lang="zh-CN" altLang="en-US" dirty="0"/>
              <a:t>启动前记得先清理环境！</a:t>
            </a:r>
            <a:endParaRPr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C4484AA-5A2D-DCD7-D85F-8FEFD2FF49AE}"/>
              </a:ext>
            </a:extLst>
          </p:cNvPr>
          <p:cNvSpPr txBox="1"/>
          <p:nvPr/>
        </p:nvSpPr>
        <p:spPr>
          <a:xfrm>
            <a:off x="765594" y="1280160"/>
            <a:ext cx="613769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#</a:t>
            </a:r>
            <a:r>
              <a:rPr lang="zh-CN" altLang="en-US" dirty="0"/>
              <a:t> 停止容器</a:t>
            </a:r>
            <a:br>
              <a:rPr lang="en-US" altLang="zh-CN" dirty="0"/>
            </a:br>
            <a:r>
              <a:rPr lang="zh-CN" altLang="en-US" dirty="0"/>
              <a:t>docker </a:t>
            </a:r>
            <a:r>
              <a:rPr lang="en-US" altLang="zh-CN" dirty="0"/>
              <a:t>stop</a:t>
            </a:r>
            <a:r>
              <a:rPr lang="zh-CN" altLang="en-US" dirty="0"/>
              <a:t> gateway game-service storage</a:t>
            </a:r>
            <a:br>
              <a:rPr lang="en-US" altLang="zh-CN" dirty="0"/>
            </a:br>
            <a:r>
              <a:rPr lang="en-US" altLang="zh-CN" dirty="0"/>
              <a:t># </a:t>
            </a:r>
            <a:r>
              <a:rPr lang="zh-CN" altLang="en-US" dirty="0"/>
              <a:t>删除容器</a:t>
            </a:r>
            <a:endParaRPr lang="en-US" altLang="zh-CN" dirty="0"/>
          </a:p>
          <a:p>
            <a:r>
              <a:rPr lang="en-US" altLang="zh-CN" dirty="0"/>
              <a:t>docker rm gateway game-service storage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B2E04EA-78E2-8797-A110-83044BEC2E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209" y="3206758"/>
            <a:ext cx="9770729" cy="196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173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405252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rPr lang="en-US" altLang="zh-CN" dirty="0" err="1"/>
              <a:t>DockerCompose</a:t>
            </a:r>
            <a:r>
              <a:rPr lang="zh-CN" altLang="en-US" dirty="0"/>
              <a:t>编排启动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26875" y="1475117"/>
            <a:ext cx="8686799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altLang="zh-CN" dirty="0"/>
              <a:t># </a:t>
            </a:r>
            <a:r>
              <a:rPr lang="zh-CN" altLang="en-US" dirty="0"/>
              <a:t>一键启动（不会重新构建）</a:t>
            </a:r>
            <a:br>
              <a:rPr lang="zh-CN" altLang="en-US" dirty="0"/>
            </a:br>
            <a:r>
              <a:rPr lang="en-US" dirty="0"/>
              <a:t>docker compose up –d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# </a:t>
            </a:r>
            <a:r>
              <a:rPr lang="zh-CN" altLang="en-US" dirty="0"/>
              <a:t>启动并重新构建</a:t>
            </a:r>
            <a:br>
              <a:rPr lang="en-US" altLang="zh-CN" dirty="0"/>
            </a:br>
            <a:r>
              <a:rPr lang="en-US" altLang="zh-CN" dirty="0"/>
              <a:t>docker compose up -d --build</a:t>
            </a:r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altLang="zh-CN" dirty="0"/>
              <a:t># </a:t>
            </a:r>
            <a:r>
              <a:rPr lang="zh-CN" altLang="en-US" dirty="0"/>
              <a:t>查看状态</a:t>
            </a:r>
            <a:br>
              <a:rPr lang="en-US" altLang="zh-CN" dirty="0"/>
            </a:br>
            <a:r>
              <a:rPr lang="en-US" dirty="0"/>
              <a:t>docker compose </a:t>
            </a:r>
            <a:r>
              <a:rPr lang="en-US" dirty="0" err="1"/>
              <a:t>ps</a:t>
            </a:r>
            <a:endParaRPr lang="en-US" dirty="0"/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# </a:t>
            </a:r>
            <a:r>
              <a:rPr lang="zh-CN" altLang="en-US" dirty="0"/>
              <a:t>查看日志</a:t>
            </a:r>
            <a:endParaRPr lang="en-US" dirty="0"/>
          </a:p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rPr lang="en-US" dirty="0"/>
              <a:t>docker compose logs –f</a:t>
            </a:r>
            <a:br>
              <a:rPr lang="en-US" dirty="0"/>
            </a:br>
            <a:r>
              <a:rPr lang="en-US" dirty="0"/>
              <a:t># </a:t>
            </a:r>
            <a:r>
              <a:rPr lang="zh-CN" altLang="en-US" dirty="0"/>
              <a:t>验证挂载目录</a:t>
            </a:r>
            <a:br>
              <a:rPr lang="en-US" altLang="zh-CN" dirty="0"/>
            </a:br>
            <a:r>
              <a:rPr lang="en-US" altLang="zh-CN" dirty="0"/>
              <a:t>docker compose config | grep -A3 /app/data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6100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Docker常用命令速查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docker </a:t>
            </a:r>
            <a:r>
              <a:rPr dirty="0" err="1"/>
              <a:t>ps</a:t>
            </a:r>
            <a:r>
              <a:rPr dirty="0"/>
              <a:t> - </a:t>
            </a:r>
            <a:r>
              <a:rPr dirty="0" err="1"/>
              <a:t>查看运行中的容器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docker logs - </a:t>
            </a:r>
            <a:r>
              <a:rPr dirty="0" err="1"/>
              <a:t>查看容器日志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docker stop/start - </a:t>
            </a:r>
            <a:r>
              <a:rPr dirty="0" err="1"/>
              <a:t>停止</a:t>
            </a:r>
            <a:r>
              <a:rPr dirty="0"/>
              <a:t>/</a:t>
            </a:r>
            <a:r>
              <a:rPr dirty="0" err="1"/>
              <a:t>启动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docker rm - </a:t>
            </a:r>
            <a:r>
              <a:rPr dirty="0" err="1"/>
              <a:t>删除容器</a:t>
            </a:r>
            <a:endParaRPr dirty="0"/>
          </a:p>
          <a:p>
            <a:pPr>
              <a:spcAft>
                <a:spcPts val="1200"/>
              </a:spcAft>
              <a:defRPr sz="1800">
                <a:solidFill>
                  <a:srgbClr val="212121"/>
                </a:solidFill>
              </a:defRPr>
            </a:pPr>
            <a:r>
              <a:rPr dirty="0"/>
              <a:t>• docker </a:t>
            </a:r>
            <a:r>
              <a:rPr dirty="0" err="1"/>
              <a:t>rmi</a:t>
            </a:r>
            <a:r>
              <a:rPr dirty="0"/>
              <a:t> - </a:t>
            </a:r>
            <a:r>
              <a:rPr dirty="0" err="1"/>
              <a:t>删除镜像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486400" cy="5029200"/>
          </a:xfrm>
          <a:prstGeom prst="roundRect">
            <a:avLst/>
          </a:prstGeom>
          <a:solidFill>
            <a:srgbClr val="26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>
                <a:solidFill>
                  <a:srgbClr val="A5D6A7"/>
                </a:solidFill>
                <a:latin typeface="Consolas"/>
              </a:defRPr>
            </a:pPr>
            <a:r>
              <a:t># 容器管理</a:t>
            </a:r>
            <a:br/>
            <a:r>
              <a:t>docker ps              # 运行中的容器</a:t>
            </a:r>
            <a:br/>
            <a:r>
              <a:t>docker ps -a           # 所有容器</a:t>
            </a:r>
            <a:br/>
            <a:r>
              <a:t>docker logs 容器名     # 查看日志</a:t>
            </a:r>
            <a:br/>
            <a:r>
              <a:t>docker stop 容器名     # 停止</a:t>
            </a:r>
            <a:br/>
            <a:r>
              <a:t>docker start 容器名    # 启动</a:t>
            </a:r>
            <a:br/>
            <a:r>
              <a:t>docker restart 容器名  # 重启</a:t>
            </a:r>
            <a:br/>
            <a:r>
              <a:t>docker rm 容器名       # 删除</a:t>
            </a:r>
            <a:br/>
            <a:br/>
            <a:r>
              <a:t># 镜像管理</a:t>
            </a:r>
            <a:br/>
            <a:r>
              <a:t>docker images          # 列出镜像</a:t>
            </a:r>
            <a:br/>
            <a:r>
              <a:t>docker rmi 镜像名      # 删除镜像</a:t>
            </a:r>
            <a:br/>
            <a:r>
              <a:t>docker system prune    # 清理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谢谢！</a:t>
            </a:r>
          </a:p>
          <a:p>
            <a:pPr algn="ctr">
              <a:defRPr sz="2400">
                <a:solidFill>
                  <a:srgbClr val="BBBBBB"/>
                </a:solidFill>
              </a:defRPr>
            </a:pPr>
            <a:r>
              <a:t>课后练习：将自己的项目打包成Docker镜像并部署到云服务器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763</TotalTime>
  <Words>2176</Words>
  <Application>Microsoft Office PowerPoint</Application>
  <PresentationFormat>宽屏</PresentationFormat>
  <Paragraphs>248</Paragraphs>
  <Slides>51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56" baseType="lpstr">
      <vt:lpstr>Arial Unicode MS</vt:lpstr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煌 王</cp:lastModifiedBy>
  <cp:revision>5</cp:revision>
  <dcterms:created xsi:type="dcterms:W3CDTF">2013-01-27T09:14:16Z</dcterms:created>
  <dcterms:modified xsi:type="dcterms:W3CDTF">2026-05-20T06:59:43Z</dcterms:modified>
  <cp:category/>
</cp:coreProperties>
</file>