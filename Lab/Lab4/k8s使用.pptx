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8" r:id="rId4"/>
    <p:sldId id="269" r:id="rId5"/>
    <p:sldId id="277" r:id="rId6"/>
    <p:sldId id="262" r:id="rId7"/>
    <p:sldId id="268" r:id="rId8"/>
    <p:sldId id="267" r:id="rId9"/>
    <p:sldId id="266" r:id="rId10"/>
    <p:sldId id="257" r:id="rId11"/>
    <p:sldId id="258" r:id="rId12"/>
    <p:sldId id="259" r:id="rId13"/>
    <p:sldId id="260" r:id="rId14"/>
    <p:sldId id="263" r:id="rId15"/>
    <p:sldId id="270" r:id="rId16"/>
    <p:sldId id="271" r:id="rId17"/>
    <p:sldId id="261" r:id="rId18"/>
    <p:sldId id="275" r:id="rId19"/>
    <p:sldId id="274" r:id="rId20"/>
    <p:sldId id="276" r:id="rId21"/>
    <p:sldId id="272" r:id="rId22"/>
    <p:sldId id="273" r:id="rId23"/>
    <p:sldId id="265" r:id="rId24"/>
    <p:sldId id="26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E9279-8F65-41B0-A7E9-812A1F650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2F7DD2-6866-4100-BEEA-F40459E60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4D877-2EB5-49ED-9344-18ACF52A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700FE-49EC-4B18-8F7D-D21957DE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36439-4A5F-4ED6-9657-42067D5E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23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AF945-8777-415E-B668-45E3EDF2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403AE-01F0-4161-B8EB-09AFA720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C7F0F-B45B-4550-A61A-2EA6038E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36BD15-44B3-4803-AB58-47463160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7AD5A6-61A6-4685-8034-73C2707C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98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8AC78-FBB5-46B9-B185-187D0D23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9A560-1C1A-4705-8617-B098035CE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5B638-553F-4F26-8453-2B111967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9D46A-CA5C-4C88-B154-F73B0335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6C3054-8499-447F-88A3-F514DDEC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0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6B3C0-7891-4F69-BEBD-EB89309A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2DF7BC-8474-49A2-84B9-143C6EB96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7353BE-ECE3-42E3-835F-8D7D6E676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E1BBA2-4636-4509-9B1F-A53B57A1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35CECD-F139-4BBC-AA2E-78078012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9D799-87E1-4B49-BD04-56D7F067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75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94090-7AEF-498F-9CBB-EBEF0091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9DD041-83D9-434F-9EA9-B45C219A4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AADBEE-B19E-492E-B6DA-F41BB7A4B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2941CF-B5A2-4186-AF1A-6E8FD2145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1A0D83-D19A-4A15-A277-2A0DEF79D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89F071-1C0F-4696-9980-9F771B73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683CE1-A17F-46B4-B66F-7813C05A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1B6CCC-9D4F-4101-9FC4-D9EB05F5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2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89492-E12D-4C85-8634-04CFDDDD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41F327-F0B0-46D6-8255-1377B31C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AFA90A-6902-4131-8E52-FDC9B934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53AEAC-97AC-483F-80FE-AE93F820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25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7A6617-302B-42CA-AB1D-B5C07571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94F9D1-C741-4A09-9FE8-1922FD27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63B9D1-346B-40D9-9EFC-68FD3358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58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787CE-AFED-4DAB-9290-6649DF89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A1CBC8-6525-4EDE-B137-00D8C994E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750675-3BB0-41EE-B055-24E953D6F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88EDED-342A-4A21-AC84-4AD83661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47804E-9B41-4B3D-B6A2-20F2963B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9FFE05-986A-4447-886F-727C3225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8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8D8C0-8707-4F0D-B2BE-392F4C57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B8FD66-6650-49C7-BF40-05312D07A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6DF664-1F28-45CA-9AB7-468639EAD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4D5A7C-9781-48DA-BA18-161F57A0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A178-1259-4D28-9340-E35A455B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6F3EEE-25A5-401E-974E-05F50A26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6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C0293-F706-4D87-AD22-1BFFBA6C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085F46-C7F2-47CA-B5B9-81CFD0A1B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FB585-50FF-419B-82BE-1AA0F49F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DBFCB-D8B0-4EB2-A743-44338487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637570-722B-4FB1-A9C8-A82B1D09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33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4B36E1-3E3B-4ED8-819C-A508B0B58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AAE107-49B6-4C05-8808-79028DB3D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5FFF9-69D8-4641-A91E-7C456B4A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498E76-D5FE-4E85-AEE1-94A63139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BCE27-FDF6-4E84-8D45-356B8691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36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AA1747-F4C8-4002-9A74-902B6CB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4A953A-FB56-4995-BBFC-181218D9B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E15FAC-E776-462C-8488-F705E4C23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A3507-F890-4755-B652-C5911EF20178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64B22-91CD-4514-89B5-2EE0CA1D8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4299C-E6C0-4A86-AFF6-725559BC8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9B644-F6B8-40EC-9A19-EBC0BA73D2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ngyubin/DockerHub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hnu-cloudcomputing/cloud-compute-book-code/tree/master/CourseCode/ch6/cluster-setu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55BC5-12ED-47D0-A86B-D1A7F704C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132935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4A54A-78BA-4D65-B1DA-F7942454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：对污染环境</a:t>
            </a:r>
            <a:r>
              <a:rPr lang="en-US" altLang="zh-CN" dirty="0"/>
              <a:t>say no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340DACA-E234-4012-98C5-580B66D94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18" y="1546951"/>
            <a:ext cx="7003056" cy="4351338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E3F2860-4414-40CC-BEBD-7AE3E08E7228}"/>
              </a:ext>
            </a:extLst>
          </p:cNvPr>
          <p:cNvSpPr txBox="1"/>
          <p:nvPr/>
        </p:nvSpPr>
        <p:spPr>
          <a:xfrm>
            <a:off x="679269" y="6043749"/>
            <a:ext cx="895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docker run -it --rm -v "$PWD":/app -w /app python:2.7 python script.py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DDA1B1-3744-4EC1-8DB1-9D69C46C3090}"/>
              </a:ext>
            </a:extLst>
          </p:cNvPr>
          <p:cNvSpPr txBox="1"/>
          <p:nvPr/>
        </p:nvSpPr>
        <p:spPr>
          <a:xfrm>
            <a:off x="7898674" y="2760617"/>
            <a:ext cx="3823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你会为了一个脚本去专门为过时的</a:t>
            </a:r>
            <a:r>
              <a:rPr lang="en-US" altLang="zh-CN" dirty="0"/>
              <a:t>python</a:t>
            </a:r>
            <a:r>
              <a:rPr lang="zh-CN" altLang="en-US" dirty="0"/>
              <a:t>环境专门再安装一遍吗？尤其是如果每个使用的小版本特性都不相同？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A01C8D-4CDC-4095-AD1A-4353D34CD418}"/>
              </a:ext>
            </a:extLst>
          </p:cNvPr>
          <p:cNvSpPr/>
          <p:nvPr/>
        </p:nvSpPr>
        <p:spPr>
          <a:xfrm>
            <a:off x="608918" y="4563534"/>
            <a:ext cx="5605615" cy="74751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4E3EFC-86E4-4ACF-B269-EA5732BFCCEF}"/>
              </a:ext>
            </a:extLst>
          </p:cNvPr>
          <p:cNvSpPr txBox="1"/>
          <p:nvPr/>
        </p:nvSpPr>
        <p:spPr>
          <a:xfrm>
            <a:off x="7958667" y="4563534"/>
            <a:ext cx="393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Looks familiar?</a:t>
            </a:r>
          </a:p>
          <a:p>
            <a:r>
              <a:rPr lang="en-US" altLang="zh-CN" b="1" dirty="0"/>
              <a:t>Things like this are happening all over the galaxy right now.</a:t>
            </a:r>
          </a:p>
          <a:p>
            <a:r>
              <a:rPr lang="en-US" altLang="zh-CN" b="1" dirty="0"/>
              <a:t>You could be next. 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299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4A54A-78BA-4D65-B1DA-F7942454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：快速启动测试沙盒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C750B0A-75F4-466B-BA09-7E4EB5684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9885"/>
            <a:ext cx="10515600" cy="4162818"/>
          </a:xfrm>
        </p:spPr>
      </p:pic>
    </p:spTree>
    <p:extLst>
      <p:ext uri="{BB962C8B-B14F-4D97-AF65-F5344CB8AC3E}">
        <p14:creationId xmlns:p14="http://schemas.microsoft.com/office/powerpoint/2010/main" val="394042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0C8B-0F60-49C8-B13F-47E39CD3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镜像</a:t>
            </a:r>
            <a:r>
              <a:rPr lang="en-US" altLang="zh-CN" dirty="0"/>
              <a:t>——</a:t>
            </a:r>
            <a:r>
              <a:rPr lang="zh-CN" altLang="en-US" dirty="0"/>
              <a:t>本地镜像配置</a:t>
            </a:r>
            <a:r>
              <a:rPr lang="en-US" altLang="zh-CN" dirty="0"/>
              <a:t>(docker registry)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C81C07-2D20-4466-940E-6D6C90918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531" y="1825626"/>
            <a:ext cx="6219688" cy="401637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07181A4-C31C-450A-B749-8C4CCE6BB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714" y="1825626"/>
            <a:ext cx="3314286" cy="367619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B3145F7-6681-410F-BEA6-B5400E8BE8F2}"/>
              </a:ext>
            </a:extLst>
          </p:cNvPr>
          <p:cNvSpPr/>
          <p:nvPr/>
        </p:nvSpPr>
        <p:spPr>
          <a:xfrm>
            <a:off x="1168400" y="3505200"/>
            <a:ext cx="4656667" cy="22013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9727BB-4993-45DD-AC14-4EF7F13B6771}"/>
              </a:ext>
            </a:extLst>
          </p:cNvPr>
          <p:cNvSpPr/>
          <p:nvPr/>
        </p:nvSpPr>
        <p:spPr>
          <a:xfrm>
            <a:off x="1168399" y="3327665"/>
            <a:ext cx="4656667" cy="22013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B4A1B7-50E6-42EF-B352-AD27DE91A2B3}"/>
              </a:ext>
            </a:extLst>
          </p:cNvPr>
          <p:cNvSpPr/>
          <p:nvPr/>
        </p:nvSpPr>
        <p:spPr>
          <a:xfrm>
            <a:off x="7596925" y="3663721"/>
            <a:ext cx="2944076" cy="23094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12EF929-0D04-4C54-BD8C-300B23D7FBB5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5825066" y="3429000"/>
            <a:ext cx="1771859" cy="350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417D803-510D-4675-A100-B6A8CD20ABD0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5825067" y="3615267"/>
            <a:ext cx="1528647" cy="48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26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37400-DBE1-46AA-9D30-A0D78E65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 compose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1D1A063-CDA1-40B3-AC26-6F6F7E93E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15" y="1592237"/>
            <a:ext cx="6212868" cy="227521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15FAE2-3F23-4B3C-8441-90B912F29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048" y="3513033"/>
            <a:ext cx="6584703" cy="322344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C9D63A-5EAD-4CD8-AAA0-4D0E7D11242F}"/>
              </a:ext>
            </a:extLst>
          </p:cNvPr>
          <p:cNvSpPr txBox="1"/>
          <p:nvPr/>
        </p:nvSpPr>
        <p:spPr>
          <a:xfrm>
            <a:off x="297515" y="4834467"/>
            <a:ext cx="4816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一键启动服务，不需要每次都输入冗长的命令</a:t>
            </a:r>
            <a:endParaRPr lang="en-US" altLang="zh-CN" dirty="0"/>
          </a:p>
          <a:p>
            <a:r>
              <a:rPr lang="zh-CN" altLang="en-US" dirty="0"/>
              <a:t>启动与停止只要：</a:t>
            </a:r>
            <a:endParaRPr lang="en-US" altLang="zh-CN" dirty="0"/>
          </a:p>
          <a:p>
            <a:r>
              <a:rPr lang="en-US" altLang="zh-CN" dirty="0"/>
              <a:t>docker-compose up –d</a:t>
            </a:r>
          </a:p>
          <a:p>
            <a:r>
              <a:rPr lang="en-US" altLang="zh-CN" dirty="0"/>
              <a:t>docker-compose down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2D6B33-5385-457B-A64C-422597B5347D}"/>
              </a:ext>
            </a:extLst>
          </p:cNvPr>
          <p:cNvSpPr txBox="1"/>
          <p:nvPr/>
        </p:nvSpPr>
        <p:spPr>
          <a:xfrm>
            <a:off x="6688183" y="1524765"/>
            <a:ext cx="57159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docker run -d \</a:t>
            </a:r>
          </a:p>
          <a:p>
            <a:r>
              <a:rPr lang="en-US" altLang="zh-CN" sz="1400" b="1" dirty="0"/>
              <a:t>  --name registry-local \</a:t>
            </a:r>
          </a:p>
          <a:p>
            <a:r>
              <a:rPr lang="en-US" altLang="zh-CN" sz="1400" b="1" dirty="0"/>
              <a:t>  --restart always \</a:t>
            </a:r>
          </a:p>
          <a:p>
            <a:r>
              <a:rPr lang="en-US" altLang="zh-CN" sz="1400" b="1" dirty="0"/>
              <a:t>  -p 5000:5000 \</a:t>
            </a:r>
          </a:p>
          <a:p>
            <a:r>
              <a:rPr lang="en-US" altLang="zh-CN" sz="1400" b="1" dirty="0"/>
              <a:t>  -v /opt/registry/local/data:/var/lib/registry \</a:t>
            </a:r>
          </a:p>
          <a:p>
            <a:r>
              <a:rPr lang="en-US" altLang="zh-CN" sz="1400" b="1" dirty="0"/>
              <a:t>  -v /opt/registry/local/</a:t>
            </a:r>
            <a:r>
              <a:rPr lang="en-US" altLang="zh-CN" sz="1400" b="1" dirty="0" err="1"/>
              <a:t>config.yml</a:t>
            </a:r>
            <a:r>
              <a:rPr lang="en-US" altLang="zh-CN" sz="1400" b="1" dirty="0"/>
              <a:t>:/</a:t>
            </a:r>
            <a:r>
              <a:rPr lang="en-US" altLang="zh-CN" sz="1400" b="1" dirty="0" err="1"/>
              <a:t>etc</a:t>
            </a:r>
            <a:r>
              <a:rPr lang="en-US" altLang="zh-CN" sz="1400" b="1" dirty="0"/>
              <a:t>/docker/registry/</a:t>
            </a:r>
            <a:r>
              <a:rPr lang="en-US" altLang="zh-CN" sz="1400" b="1" dirty="0" err="1"/>
              <a:t>config.yml</a:t>
            </a:r>
            <a:r>
              <a:rPr lang="en-US" altLang="zh-CN" sz="1400" b="1" dirty="0"/>
              <a:t> \</a:t>
            </a:r>
          </a:p>
          <a:p>
            <a:r>
              <a:rPr lang="en-US" altLang="zh-CN" sz="1400" b="1" dirty="0"/>
              <a:t>  registry:3</a:t>
            </a:r>
          </a:p>
          <a:p>
            <a:r>
              <a:rPr lang="zh-CN" altLang="en-US" sz="1400" b="1" dirty="0"/>
              <a:t>这还仅仅只是一个容器的功能</a:t>
            </a:r>
          </a:p>
        </p:txBody>
      </p:sp>
    </p:spTree>
    <p:extLst>
      <p:ext uri="{BB962C8B-B14F-4D97-AF65-F5344CB8AC3E}">
        <p14:creationId xmlns:p14="http://schemas.microsoft.com/office/powerpoint/2010/main" val="10808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0C8B-0F60-49C8-B13F-47E39CD3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镜像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CA668-8051-42D4-B33E-82AA4511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docker</a:t>
            </a:r>
            <a:r>
              <a:rPr lang="zh-CN" altLang="en-US" dirty="0"/>
              <a:t>相关</a:t>
            </a:r>
            <a:r>
              <a:rPr lang="en-US" altLang="zh-CN" dirty="0"/>
              <a:t> </a:t>
            </a:r>
            <a:r>
              <a:rPr lang="en-US" altLang="zh-CN" dirty="0">
                <a:hlinkClick r:id="rId2"/>
              </a:rPr>
              <a:t>https://github.com/dongyubin/DockerHub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containerd</a:t>
            </a:r>
            <a:r>
              <a:rPr lang="zh-CN" altLang="en-US" dirty="0"/>
              <a:t>相关（本质是</a:t>
            </a:r>
            <a:r>
              <a:rPr lang="en-US" altLang="zh-CN" dirty="0"/>
              <a:t>docker</a:t>
            </a:r>
            <a:r>
              <a:rPr lang="zh-CN" altLang="en-US" dirty="0"/>
              <a:t>的底层，但是配置文件不与</a:t>
            </a:r>
            <a:r>
              <a:rPr lang="en-US" altLang="zh-CN" dirty="0"/>
              <a:t>docker</a:t>
            </a:r>
            <a:r>
              <a:rPr lang="zh-CN" altLang="en-US" dirty="0"/>
              <a:t>关联，可安装</a:t>
            </a:r>
            <a:r>
              <a:rPr lang="en-US" altLang="zh-CN" dirty="0" err="1"/>
              <a:t>crictl</a:t>
            </a:r>
            <a:r>
              <a:rPr lang="zh-CN" altLang="en-US" dirty="0"/>
              <a:t>来进行测试）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k8s</a:t>
            </a:r>
            <a:r>
              <a:rPr lang="zh-CN" altLang="en-US" dirty="0"/>
              <a:t>相关：初始化文件要使用镜像（安装时甚至要改验证文件）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registry.aliyuncs.com/</a:t>
            </a:r>
            <a:r>
              <a:rPr lang="en-US" altLang="zh-CN" dirty="0" err="1"/>
              <a:t>google_containers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本地镜像仓库：</a:t>
            </a:r>
            <a:r>
              <a:rPr lang="en-US" altLang="zh-CN" dirty="0"/>
              <a:t>registry</a:t>
            </a:r>
            <a:r>
              <a:rPr lang="zh-CN" altLang="en-US" dirty="0"/>
              <a:t>，使用时需加前缀指定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注：可用的镜像源可能每个月都会变化</a:t>
            </a:r>
          </a:p>
        </p:txBody>
      </p:sp>
    </p:spTree>
    <p:extLst>
      <p:ext uri="{BB962C8B-B14F-4D97-AF65-F5344CB8AC3E}">
        <p14:creationId xmlns:p14="http://schemas.microsoft.com/office/powerpoint/2010/main" val="261856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0C8B-0F60-49C8-B13F-47E39CD3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镜像</a:t>
            </a:r>
            <a:r>
              <a:rPr lang="en-US" altLang="zh-CN" dirty="0"/>
              <a:t>——</a:t>
            </a:r>
            <a:r>
              <a:rPr lang="en-US" altLang="zh-CN" dirty="0" err="1"/>
              <a:t>containerd</a:t>
            </a:r>
            <a:r>
              <a:rPr lang="zh-CN" altLang="en-US" dirty="0"/>
              <a:t>镜像配置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CA668-8051-42D4-B33E-82AA4511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修改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containerd</a:t>
            </a:r>
            <a:r>
              <a:rPr lang="en-US" altLang="zh-CN" dirty="0"/>
              <a:t>/config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目录结构与配置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33AA1D-87B7-4F53-8BC7-5568CD76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72" y="1906117"/>
            <a:ext cx="5457143" cy="23428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925977-8A5A-4309-B034-C7B7D1704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33" y="2478090"/>
            <a:ext cx="2893276" cy="17708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D225ED-18D5-468E-B6C3-1BF0267DE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14" y="5227753"/>
            <a:ext cx="3228571" cy="9238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660604C-5D37-4C65-85DC-5CBA94F8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209" y="4605727"/>
            <a:ext cx="3896991" cy="21678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62DC7DA-1B64-4D78-8B1A-4049AB65F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3124" y="5227753"/>
            <a:ext cx="3771067" cy="76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8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0C8B-0F60-49C8-B13F-47E39CD3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基本操作</a:t>
            </a:r>
            <a:r>
              <a:rPr lang="en-US" altLang="zh-CN" dirty="0"/>
              <a:t>——</a:t>
            </a:r>
            <a:r>
              <a:rPr lang="en-US" altLang="zh-CN" dirty="0" err="1"/>
              <a:t>kubeadm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CA668-8051-42D4-B33E-82AA4511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kubeadm</a:t>
            </a:r>
            <a:r>
              <a:rPr lang="en-US" altLang="zh-CN" dirty="0"/>
              <a:t> </a:t>
            </a:r>
            <a:r>
              <a:rPr lang="en-US" altLang="zh-CN" dirty="0" err="1"/>
              <a:t>init</a:t>
            </a:r>
            <a:r>
              <a:rPr lang="en-US" altLang="zh-CN" dirty="0"/>
              <a:t> --config=</a:t>
            </a:r>
            <a:r>
              <a:rPr lang="en-US" altLang="zh-CN" dirty="0" err="1"/>
              <a:t>kubeadm-config.yaml</a:t>
            </a:r>
            <a:r>
              <a:rPr lang="en-US" altLang="zh-CN" dirty="0"/>
              <a:t> </a:t>
            </a:r>
            <a:r>
              <a:rPr lang="zh-CN" altLang="en-US" dirty="0"/>
              <a:t>主节点初始化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sudo</a:t>
            </a:r>
            <a:r>
              <a:rPr lang="en-US" altLang="zh-CN" dirty="0"/>
              <a:t> cp -</a:t>
            </a:r>
            <a:r>
              <a:rPr lang="en-US" altLang="zh-CN" dirty="0" err="1"/>
              <a:t>i</a:t>
            </a:r>
            <a:r>
              <a:rPr lang="en-US" altLang="zh-CN" dirty="0"/>
              <a:t> /</a:t>
            </a:r>
            <a:r>
              <a:rPr lang="en-US" altLang="zh-CN" dirty="0" err="1"/>
              <a:t>etc</a:t>
            </a:r>
            <a:r>
              <a:rPr lang="en-US" altLang="zh-CN" dirty="0"/>
              <a:t>/Kubernetes/</a:t>
            </a:r>
            <a:r>
              <a:rPr lang="en-US" altLang="zh-CN" dirty="0" err="1"/>
              <a:t>admin.conf</a:t>
            </a:r>
            <a:r>
              <a:rPr lang="en-US" altLang="zh-CN" dirty="0"/>
              <a:t> $HOME/.</a:t>
            </a:r>
            <a:r>
              <a:rPr lang="en-US" altLang="zh-CN" dirty="0" err="1"/>
              <a:t>kube</a:t>
            </a:r>
            <a:r>
              <a:rPr lang="en-US" altLang="zh-CN" dirty="0"/>
              <a:t>/config </a:t>
            </a:r>
            <a:r>
              <a:rPr lang="zh-CN" altLang="en-US" dirty="0"/>
              <a:t>给予用户使用集群的权限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chown</a:t>
            </a:r>
            <a:r>
              <a:rPr lang="en-US" altLang="zh-CN" dirty="0"/>
              <a:t> $(id –u):$(id –g) $HOME/.</a:t>
            </a:r>
            <a:r>
              <a:rPr lang="en-US" altLang="zh-CN" dirty="0" err="1"/>
              <a:t>kube</a:t>
            </a:r>
            <a:r>
              <a:rPr lang="en-US" altLang="zh-CN" dirty="0"/>
              <a:t>/config </a:t>
            </a:r>
            <a:r>
              <a:rPr lang="zh-CN" altLang="en-US" dirty="0"/>
              <a:t>配置文件赋权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 err="1"/>
              <a:t>kubeadm</a:t>
            </a:r>
            <a:r>
              <a:rPr lang="en-US" altLang="zh-CN" dirty="0"/>
              <a:t> join &lt;</a:t>
            </a:r>
            <a:r>
              <a:rPr lang="en-US" altLang="zh-CN" dirty="0" err="1"/>
              <a:t>ip:port</a:t>
            </a:r>
            <a:r>
              <a:rPr lang="en-US" altLang="zh-CN" dirty="0"/>
              <a:t>&gt; --token &lt;token&gt; --discovery-token-ca-cert-hash sha256:&lt;hash&gt; --control-plane </a:t>
            </a:r>
            <a:r>
              <a:rPr lang="zh-CN" altLang="en-US" dirty="0"/>
              <a:t>节点加入集群</a:t>
            </a:r>
            <a:endParaRPr lang="en-US" altLang="zh-CN" dirty="0"/>
          </a:p>
          <a:p>
            <a:r>
              <a:rPr lang="en-US" altLang="zh-CN" dirty="0" err="1"/>
              <a:t>kubeadm</a:t>
            </a:r>
            <a:r>
              <a:rPr lang="en-US" altLang="zh-CN" dirty="0"/>
              <a:t> token create –print-join-command </a:t>
            </a:r>
            <a:r>
              <a:rPr lang="zh-CN" altLang="en-US" dirty="0"/>
              <a:t>主节点可重新生成</a:t>
            </a:r>
            <a:r>
              <a:rPr lang="en-US" altLang="zh-CN" dirty="0"/>
              <a:t>token</a:t>
            </a:r>
          </a:p>
          <a:p>
            <a:endParaRPr lang="en-US" altLang="zh-CN" dirty="0"/>
          </a:p>
          <a:p>
            <a:r>
              <a:rPr lang="zh-CN" altLang="en-US" dirty="0"/>
              <a:t>集群本身配置复杂且时间冗长，详细步骤可以参照</a:t>
            </a:r>
            <a:r>
              <a:rPr lang="en-US" altLang="zh-CN" dirty="0"/>
              <a:t>git</a:t>
            </a:r>
            <a:r>
              <a:rPr lang="zh-CN" altLang="en-US" dirty="0"/>
              <a:t>仓库</a:t>
            </a:r>
            <a:br>
              <a:rPr lang="en-US" altLang="zh-CN" dirty="0"/>
            </a:br>
            <a:r>
              <a:rPr lang="en-US" altLang="zh-CN" dirty="0">
                <a:hlinkClick r:id="rId2"/>
              </a:rPr>
              <a:t>https://gitee.com/hnu-cloudcomputing/cloud-compute-book-code/tree/master/CourseCode/ch6/cluster-setup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474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40C8B-0F60-49C8-B13F-47E39CD3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基本操作</a:t>
            </a:r>
            <a:r>
              <a:rPr lang="en-US" altLang="zh-CN" dirty="0"/>
              <a:t>——</a:t>
            </a:r>
            <a:r>
              <a:rPr lang="en-US" altLang="zh-CN" dirty="0" err="1"/>
              <a:t>kubectl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CA668-8051-42D4-B33E-82AA4511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kubectl</a:t>
            </a:r>
            <a:r>
              <a:rPr lang="en-US" altLang="zh-CN" dirty="0"/>
              <a:t> get [pods, nodes, svc, ns, </a:t>
            </a:r>
            <a:r>
              <a:rPr lang="en-US" altLang="zh-CN" dirty="0" err="1"/>
              <a:t>hpa</a:t>
            </a:r>
            <a:r>
              <a:rPr lang="en-US" altLang="zh-CN" dirty="0"/>
              <a:t>, </a:t>
            </a:r>
            <a:r>
              <a:rPr lang="en-US" altLang="zh-CN" dirty="0" err="1"/>
              <a:t>deploly</a:t>
            </a:r>
            <a:r>
              <a:rPr lang="en-US" altLang="zh-CN" dirty="0"/>
              <a:t>] [-o wide] </a:t>
            </a:r>
            <a:r>
              <a:rPr lang="zh-CN" altLang="en-US" dirty="0"/>
              <a:t>信息查看</a:t>
            </a:r>
            <a:endParaRPr lang="en-US" altLang="zh-CN" dirty="0"/>
          </a:p>
          <a:p>
            <a:r>
              <a:rPr lang="en-US" altLang="zh-CN" dirty="0" err="1"/>
              <a:t>kubectl</a:t>
            </a:r>
            <a:r>
              <a:rPr lang="en-US" altLang="zh-CN" dirty="0"/>
              <a:t> delete [pod, node, svc, ns] &lt;</a:t>
            </a:r>
            <a:r>
              <a:rPr lang="zh-CN" altLang="en-US" dirty="0"/>
              <a:t>名称</a:t>
            </a:r>
            <a:r>
              <a:rPr lang="en-US" altLang="zh-CN" dirty="0"/>
              <a:t>&gt;</a:t>
            </a:r>
          </a:p>
          <a:p>
            <a:r>
              <a:rPr lang="en-US" altLang="zh-CN" dirty="0" err="1"/>
              <a:t>kubectl</a:t>
            </a:r>
            <a:r>
              <a:rPr lang="en-US" altLang="zh-CN" dirty="0"/>
              <a:t> create namespace ns1 </a:t>
            </a:r>
            <a:r>
              <a:rPr lang="zh-CN" altLang="en-US" dirty="0"/>
              <a:t>创建命名空间</a:t>
            </a:r>
            <a:endParaRPr lang="en-US" altLang="zh-CN" dirty="0"/>
          </a:p>
          <a:p>
            <a:r>
              <a:rPr lang="en-US" altLang="zh-CN" dirty="0" err="1"/>
              <a:t>kubectl</a:t>
            </a:r>
            <a:r>
              <a:rPr lang="en-US" altLang="zh-CN" dirty="0"/>
              <a:t> config set-context --current –namespace=&lt;</a:t>
            </a:r>
            <a:r>
              <a:rPr lang="zh-CN" altLang="en-US" dirty="0"/>
              <a:t>命名空间</a:t>
            </a:r>
            <a:r>
              <a:rPr lang="en-US" altLang="zh-CN" dirty="0"/>
              <a:t>&gt; </a:t>
            </a:r>
            <a:r>
              <a:rPr lang="zh-CN" altLang="en-US" dirty="0"/>
              <a:t>设定命名空间</a:t>
            </a:r>
            <a:endParaRPr lang="en-US" altLang="zh-CN" dirty="0"/>
          </a:p>
          <a:p>
            <a:r>
              <a:rPr lang="en-US" altLang="zh-CN" dirty="0" err="1"/>
              <a:t>kubectl</a:t>
            </a:r>
            <a:r>
              <a:rPr lang="en-US" altLang="zh-CN" dirty="0"/>
              <a:t> describe pod &lt;pod</a:t>
            </a:r>
            <a:r>
              <a:rPr lang="zh-CN" altLang="en-US" dirty="0"/>
              <a:t>名称</a:t>
            </a:r>
            <a:r>
              <a:rPr lang="en-US" altLang="zh-CN" dirty="0"/>
              <a:t>&gt; pod</a:t>
            </a:r>
            <a:r>
              <a:rPr lang="zh-CN" altLang="en-US" dirty="0"/>
              <a:t>的详细信息</a:t>
            </a:r>
            <a:endParaRPr lang="en-US" altLang="zh-CN" dirty="0"/>
          </a:p>
          <a:p>
            <a:r>
              <a:rPr lang="en-US" altLang="zh-CN" dirty="0" err="1"/>
              <a:t>kubectl</a:t>
            </a:r>
            <a:r>
              <a:rPr lang="en-US" altLang="zh-CN" dirty="0"/>
              <a:t> apply –f </a:t>
            </a:r>
            <a:r>
              <a:rPr lang="en-US" altLang="zh-CN" dirty="0" err="1"/>
              <a:t>config.yaml</a:t>
            </a:r>
            <a:r>
              <a:rPr lang="en-US" altLang="zh-CN" dirty="0"/>
              <a:t> </a:t>
            </a:r>
            <a:r>
              <a:rPr lang="zh-CN" altLang="en-US" dirty="0"/>
              <a:t>根据文件配置</a:t>
            </a:r>
            <a:r>
              <a:rPr lang="en-US" altLang="zh-CN" dirty="0"/>
              <a:t>pod</a:t>
            </a:r>
          </a:p>
          <a:p>
            <a:r>
              <a:rPr lang="en-US" altLang="zh-CN" dirty="0" err="1"/>
              <a:t>kubectl</a:t>
            </a:r>
            <a:r>
              <a:rPr lang="en-US" altLang="zh-CN" dirty="0"/>
              <a:t> delete –f </a:t>
            </a:r>
            <a:r>
              <a:rPr lang="en-US" altLang="zh-CN" dirty="0" err="1"/>
              <a:t>config.yaml</a:t>
            </a:r>
            <a:r>
              <a:rPr lang="en-US" altLang="zh-CN" dirty="0"/>
              <a:t> </a:t>
            </a:r>
            <a:r>
              <a:rPr lang="zh-CN" altLang="en-US" dirty="0"/>
              <a:t>根据文件删除</a:t>
            </a:r>
            <a:r>
              <a:rPr lang="en-US" altLang="zh-CN" dirty="0"/>
              <a:t>pod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79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2F312-D43E-4486-8DAD-B01FE599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配置文件解析</a:t>
            </a:r>
            <a:r>
              <a:rPr lang="en-US" altLang="zh-CN" dirty="0"/>
              <a:t>——deployment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2EF173D-283E-4D10-B06F-C3ACDB4E21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540"/>
            <a:ext cx="3698372" cy="5002335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79D1A9-0127-484A-A318-85697AAD4C0C}"/>
              </a:ext>
            </a:extLst>
          </p:cNvPr>
          <p:cNvSpPr txBox="1"/>
          <p:nvPr/>
        </p:nvSpPr>
        <p:spPr>
          <a:xfrm>
            <a:off x="5571066" y="1690688"/>
            <a:ext cx="51562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kind: deployment 		</a:t>
            </a:r>
            <a:r>
              <a:rPr lang="zh-CN" altLang="en-US" dirty="0"/>
              <a:t>类型：工作负载</a:t>
            </a:r>
            <a:endParaRPr lang="en-US" altLang="zh-CN" dirty="0"/>
          </a:p>
          <a:p>
            <a:r>
              <a:rPr lang="en-US" altLang="zh-CN" dirty="0"/>
              <a:t>labels-&gt;</a:t>
            </a:r>
            <a:r>
              <a:rPr lang="en-US" altLang="zh-CN" dirty="0" err="1"/>
              <a:t>matchLabels</a:t>
            </a:r>
            <a:r>
              <a:rPr lang="en-US" altLang="zh-CN" dirty="0"/>
              <a:t>	</a:t>
            </a:r>
            <a:r>
              <a:rPr lang="zh-CN" altLang="en-US" dirty="0"/>
              <a:t>集群内部索引的依据</a:t>
            </a:r>
            <a:endParaRPr lang="en-US" altLang="zh-CN" dirty="0"/>
          </a:p>
          <a:p>
            <a:r>
              <a:rPr lang="en-US" altLang="zh-CN" dirty="0"/>
              <a:t>replicas			</a:t>
            </a:r>
            <a:r>
              <a:rPr lang="zh-CN" altLang="en-US" dirty="0"/>
              <a:t>初始副本数量</a:t>
            </a:r>
            <a:endParaRPr lang="en-US" altLang="zh-CN" dirty="0"/>
          </a:p>
          <a:p>
            <a:r>
              <a:rPr lang="en-US" altLang="zh-CN" dirty="0"/>
              <a:t>template			</a:t>
            </a:r>
            <a:r>
              <a:rPr lang="zh-CN" altLang="en-US" dirty="0"/>
              <a:t>规定</a:t>
            </a:r>
            <a:r>
              <a:rPr lang="en-US" altLang="zh-CN" dirty="0"/>
              <a:t>pod</a:t>
            </a:r>
            <a:r>
              <a:rPr lang="zh-CN" altLang="en-US" dirty="0"/>
              <a:t>结构的模板</a:t>
            </a:r>
            <a:endParaRPr lang="en-US" altLang="zh-CN" dirty="0"/>
          </a:p>
          <a:p>
            <a:r>
              <a:rPr lang="en-US" altLang="zh-CN" dirty="0"/>
              <a:t>containers		</a:t>
            </a:r>
            <a:r>
              <a:rPr lang="zh-CN" altLang="en-US" dirty="0"/>
              <a:t>容器配置</a:t>
            </a:r>
            <a:endParaRPr lang="en-US" altLang="zh-CN" dirty="0"/>
          </a:p>
          <a:p>
            <a:r>
              <a:rPr lang="en-US" altLang="zh-CN" dirty="0"/>
              <a:t>image			</a:t>
            </a:r>
            <a:r>
              <a:rPr lang="zh-CN" altLang="en-US" dirty="0"/>
              <a:t>拉取镜像的地址</a:t>
            </a:r>
            <a:endParaRPr lang="en-US" altLang="zh-CN" dirty="0"/>
          </a:p>
          <a:p>
            <a:r>
              <a:rPr lang="en-US" altLang="zh-CN" dirty="0" err="1"/>
              <a:t>imagePullPolicy</a:t>
            </a:r>
            <a:r>
              <a:rPr lang="en-US" altLang="zh-CN" dirty="0"/>
              <a:t>		</a:t>
            </a:r>
            <a:r>
              <a:rPr lang="zh-CN" altLang="en-US" dirty="0"/>
              <a:t>拉取策略</a:t>
            </a:r>
            <a:endParaRPr lang="en-US" altLang="zh-CN" dirty="0"/>
          </a:p>
          <a:p>
            <a:r>
              <a:rPr lang="en-US" altLang="zh-CN" dirty="0"/>
              <a:t>env			</a:t>
            </a:r>
            <a:r>
              <a:rPr lang="zh-CN" altLang="en-US" dirty="0"/>
              <a:t>环境变量</a:t>
            </a:r>
            <a:endParaRPr lang="en-US" altLang="zh-CN" dirty="0"/>
          </a:p>
          <a:p>
            <a:r>
              <a:rPr lang="en-US" altLang="zh-CN" dirty="0" err="1"/>
              <a:t>readinessProbe</a:t>
            </a:r>
            <a:r>
              <a:rPr lang="en-US" altLang="zh-CN" dirty="0"/>
              <a:t>		</a:t>
            </a:r>
            <a:r>
              <a:rPr lang="zh-CN" altLang="en-US" dirty="0"/>
              <a:t>就绪探针（健康检查）</a:t>
            </a:r>
          </a:p>
        </p:txBody>
      </p:sp>
    </p:spTree>
    <p:extLst>
      <p:ext uri="{BB962C8B-B14F-4D97-AF65-F5344CB8AC3E}">
        <p14:creationId xmlns:p14="http://schemas.microsoft.com/office/powerpoint/2010/main" val="38631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47A56-A7AB-4436-8DBE-CE55A12D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k8s</a:t>
            </a:r>
            <a:r>
              <a:rPr lang="zh-CN" altLang="en-US" dirty="0"/>
              <a:t>配置文件解析</a:t>
            </a:r>
            <a:r>
              <a:rPr lang="en-US" altLang="zh-CN" dirty="0"/>
              <a:t>——Service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61B088A-0773-4312-9289-8751BE354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822" y="2211679"/>
            <a:ext cx="3354592" cy="327472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2885B8-F160-45E7-99AE-F940A5E992FB}"/>
              </a:ext>
            </a:extLst>
          </p:cNvPr>
          <p:cNvSpPr txBox="1"/>
          <p:nvPr/>
        </p:nvSpPr>
        <p:spPr>
          <a:xfrm>
            <a:off x="5795493" y="2211679"/>
            <a:ext cx="5306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selector			</a:t>
            </a:r>
            <a:r>
              <a:rPr lang="zh-CN" altLang="en-US" dirty="0"/>
              <a:t>对应</a:t>
            </a:r>
            <a:r>
              <a:rPr lang="en-US" altLang="zh-CN" dirty="0"/>
              <a:t>deployment</a:t>
            </a:r>
            <a:r>
              <a:rPr lang="zh-CN" altLang="en-US" dirty="0"/>
              <a:t>标签</a:t>
            </a:r>
            <a:endParaRPr lang="en-US" altLang="zh-CN" dirty="0"/>
          </a:p>
          <a:p>
            <a:r>
              <a:rPr lang="en-US" altLang="zh-CN" dirty="0"/>
              <a:t>ports			</a:t>
            </a:r>
            <a:r>
              <a:rPr lang="zh-CN" altLang="en-US" dirty="0"/>
              <a:t>端口情况</a:t>
            </a:r>
            <a:endParaRPr lang="en-US" altLang="zh-CN" dirty="0"/>
          </a:p>
          <a:p>
            <a:r>
              <a:rPr lang="en-US" altLang="zh-CN" dirty="0"/>
              <a:t>name			</a:t>
            </a:r>
            <a:r>
              <a:rPr lang="zh-CN" altLang="en-US" dirty="0"/>
              <a:t>协议</a:t>
            </a:r>
            <a:endParaRPr lang="en-US" altLang="zh-CN" dirty="0"/>
          </a:p>
          <a:p>
            <a:r>
              <a:rPr lang="en-US" altLang="zh-CN" dirty="0"/>
              <a:t>port			</a:t>
            </a:r>
            <a:r>
              <a:rPr lang="zh-CN" altLang="en-US" dirty="0"/>
              <a:t>容器内端口</a:t>
            </a:r>
            <a:endParaRPr lang="en-US" altLang="zh-CN" dirty="0"/>
          </a:p>
          <a:p>
            <a:r>
              <a:rPr lang="en-US" altLang="zh-CN" dirty="0" err="1"/>
              <a:t>targetPort</a:t>
            </a:r>
            <a:r>
              <a:rPr lang="en-US" altLang="zh-CN" dirty="0"/>
              <a:t>		</a:t>
            </a:r>
            <a:r>
              <a:rPr lang="zh-CN" altLang="en-US" dirty="0"/>
              <a:t>内网端口</a:t>
            </a:r>
            <a:endParaRPr lang="en-US" altLang="zh-CN" dirty="0"/>
          </a:p>
          <a:p>
            <a:r>
              <a:rPr lang="en-US" altLang="zh-CN" dirty="0" err="1"/>
              <a:t>nodePort</a:t>
            </a:r>
            <a:r>
              <a:rPr lang="en-US" altLang="zh-CN" dirty="0"/>
              <a:t>		</a:t>
            </a:r>
            <a:r>
              <a:rPr lang="zh-CN" altLang="en-US" dirty="0"/>
              <a:t>节点端口（连通外网）</a:t>
            </a:r>
          </a:p>
        </p:txBody>
      </p:sp>
    </p:spTree>
    <p:extLst>
      <p:ext uri="{BB962C8B-B14F-4D97-AF65-F5344CB8AC3E}">
        <p14:creationId xmlns:p14="http://schemas.microsoft.com/office/powerpoint/2010/main" val="392207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E4E88-2C48-4C42-AF69-E35EC17C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加入</a:t>
            </a:r>
            <a:r>
              <a:rPr lang="en-US" altLang="zh-CN" dirty="0"/>
              <a:t>HPA——</a:t>
            </a:r>
            <a:r>
              <a:rPr lang="zh-CN" altLang="en-US" dirty="0"/>
              <a:t>对</a:t>
            </a:r>
            <a:r>
              <a:rPr lang="en-US" altLang="zh-CN" dirty="0"/>
              <a:t>pod</a:t>
            </a:r>
            <a:r>
              <a:rPr lang="zh-CN" altLang="en-US" dirty="0"/>
              <a:t>做出限制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CD347C-134C-4652-B456-58D4B494B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832" y="1368701"/>
            <a:ext cx="3321134" cy="548929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B1CD5F-DE86-4F98-9896-2EAB39AB110E}"/>
              </a:ext>
            </a:extLst>
          </p:cNvPr>
          <p:cNvSpPr txBox="1"/>
          <p:nvPr/>
        </p:nvSpPr>
        <p:spPr>
          <a:xfrm>
            <a:off x="5267459" y="3252309"/>
            <a:ext cx="5112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加入资源限制</a:t>
            </a:r>
            <a:r>
              <a:rPr lang="en-US" altLang="zh-CN" dirty="0"/>
              <a:t>resources</a:t>
            </a:r>
          </a:p>
          <a:p>
            <a:r>
              <a:rPr lang="en-US" altLang="zh-CN" dirty="0"/>
              <a:t>request</a:t>
            </a:r>
            <a:r>
              <a:rPr lang="zh-CN" altLang="en-US" dirty="0"/>
              <a:t>是最小</a:t>
            </a:r>
            <a:endParaRPr lang="en-US" altLang="zh-CN" dirty="0"/>
          </a:p>
          <a:p>
            <a:r>
              <a:rPr lang="en-US" altLang="zh-CN" dirty="0"/>
              <a:t>limits</a:t>
            </a:r>
            <a:r>
              <a:rPr lang="zh-CN" altLang="en-US" dirty="0"/>
              <a:t>是最大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49D735-29A0-430A-8A1C-FC8DCF8F5E8B}"/>
              </a:ext>
            </a:extLst>
          </p:cNvPr>
          <p:cNvSpPr/>
          <p:nvPr/>
        </p:nvSpPr>
        <p:spPr>
          <a:xfrm>
            <a:off x="1354667" y="5080000"/>
            <a:ext cx="1447800" cy="99906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521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5858A-BB26-4495-8817-6E45AB7B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加入</a:t>
            </a:r>
            <a:r>
              <a:rPr lang="en-US" altLang="zh-CN" dirty="0"/>
              <a:t>HPA——</a:t>
            </a:r>
            <a:r>
              <a:rPr lang="zh-CN" altLang="en-US" dirty="0"/>
              <a:t>加入</a:t>
            </a:r>
            <a:r>
              <a:rPr lang="en-US" altLang="zh-CN" dirty="0" err="1"/>
              <a:t>autoscale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901F4D3-E9E7-4F10-928B-633AD0E69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230" y="1576770"/>
            <a:ext cx="3360313" cy="507493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549FC79-3F3A-468D-97AE-ECF261CE5560}"/>
              </a:ext>
            </a:extLst>
          </p:cNvPr>
          <p:cNvSpPr txBox="1"/>
          <p:nvPr/>
        </p:nvSpPr>
        <p:spPr>
          <a:xfrm>
            <a:off x="5782615" y="1506022"/>
            <a:ext cx="502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HPA: </a:t>
            </a:r>
            <a:r>
              <a:rPr lang="zh-CN" altLang="en-US" dirty="0"/>
              <a:t>根据</a:t>
            </a:r>
            <a:r>
              <a:rPr lang="en-US" altLang="zh-CN" dirty="0"/>
              <a:t>pod</a:t>
            </a:r>
            <a:r>
              <a:rPr lang="zh-CN" altLang="en-US" dirty="0"/>
              <a:t>负载情况增减</a:t>
            </a:r>
            <a:r>
              <a:rPr lang="en-US" altLang="zh-CN" dirty="0"/>
              <a:t>pod</a:t>
            </a:r>
            <a:r>
              <a:rPr lang="zh-CN" altLang="en-US" dirty="0"/>
              <a:t>数量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AB82DE-BE57-4FA0-91D2-5E89D42833A8}"/>
              </a:ext>
            </a:extLst>
          </p:cNvPr>
          <p:cNvSpPr/>
          <p:nvPr/>
        </p:nvSpPr>
        <p:spPr>
          <a:xfrm>
            <a:off x="1081825" y="2442831"/>
            <a:ext cx="1687133" cy="98616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6220F2-29DC-49D0-941C-763701860EE3}"/>
              </a:ext>
            </a:extLst>
          </p:cNvPr>
          <p:cNvSpPr/>
          <p:nvPr/>
        </p:nvSpPr>
        <p:spPr>
          <a:xfrm>
            <a:off x="5318974" y="2060619"/>
            <a:ext cx="3696237" cy="1133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告知策略控制的对象</a:t>
            </a:r>
            <a:endParaRPr lang="en-US" altLang="zh-CN" dirty="0"/>
          </a:p>
          <a:p>
            <a:pPr algn="ctr"/>
            <a:r>
              <a:rPr lang="zh-CN" altLang="en-US" dirty="0"/>
              <a:t>指定副本数量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45D56B-3E1F-4DC7-B707-A5AEF6EF157E}"/>
              </a:ext>
            </a:extLst>
          </p:cNvPr>
          <p:cNvSpPr/>
          <p:nvPr/>
        </p:nvSpPr>
        <p:spPr>
          <a:xfrm>
            <a:off x="1114557" y="3429000"/>
            <a:ext cx="2452891" cy="111724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A179B7-7D22-4C1C-9FA0-ABF20FD2A2B2}"/>
              </a:ext>
            </a:extLst>
          </p:cNvPr>
          <p:cNvSpPr/>
          <p:nvPr/>
        </p:nvSpPr>
        <p:spPr>
          <a:xfrm>
            <a:off x="5318973" y="3291782"/>
            <a:ext cx="3696238" cy="11172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触发指标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4648DF-C0F8-48EE-9FDB-69AB5843A48D}"/>
              </a:ext>
            </a:extLst>
          </p:cNvPr>
          <p:cNvSpPr/>
          <p:nvPr/>
        </p:nvSpPr>
        <p:spPr>
          <a:xfrm>
            <a:off x="1182438" y="4722609"/>
            <a:ext cx="2565314" cy="93121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2F0F85-7CDA-4A03-A411-9DCB1DDCFDD4}"/>
              </a:ext>
            </a:extLst>
          </p:cNvPr>
          <p:cNvSpPr/>
          <p:nvPr/>
        </p:nvSpPr>
        <p:spPr>
          <a:xfrm>
            <a:off x="1246831" y="5637008"/>
            <a:ext cx="2565313" cy="101469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6AC491-3AC7-4B45-A933-0FBCD2A5A078}"/>
              </a:ext>
            </a:extLst>
          </p:cNvPr>
          <p:cNvSpPr/>
          <p:nvPr/>
        </p:nvSpPr>
        <p:spPr>
          <a:xfrm>
            <a:off x="5318973" y="4519766"/>
            <a:ext cx="3696238" cy="11172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扩容策略</a:t>
            </a:r>
            <a:r>
              <a:rPr lang="en-US" altLang="zh-CN" dirty="0"/>
              <a:t>——</a:t>
            </a:r>
            <a:r>
              <a:rPr lang="zh-CN" altLang="en-US" dirty="0"/>
              <a:t>立即</a:t>
            </a:r>
            <a:br>
              <a:rPr lang="en-US" altLang="zh-CN" dirty="0"/>
            </a:br>
            <a:r>
              <a:rPr lang="zh-CN" altLang="en-US" dirty="0"/>
              <a:t>任意</a:t>
            </a:r>
            <a:r>
              <a:rPr lang="en-US" altLang="zh-CN" dirty="0"/>
              <a:t>15s</a:t>
            </a:r>
            <a:r>
              <a:rPr lang="zh-CN" altLang="en-US" dirty="0"/>
              <a:t>内，允许最大扩容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pod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A55656-B889-42B9-9108-D91B7029A014}"/>
              </a:ext>
            </a:extLst>
          </p:cNvPr>
          <p:cNvSpPr/>
          <p:nvPr/>
        </p:nvSpPr>
        <p:spPr>
          <a:xfrm>
            <a:off x="5318973" y="5690316"/>
            <a:ext cx="3696238" cy="11172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缩容策略</a:t>
            </a:r>
            <a:r>
              <a:rPr lang="en-US" altLang="zh-CN" dirty="0"/>
              <a:t>——</a:t>
            </a:r>
            <a:r>
              <a:rPr lang="zh-CN" altLang="en-US" dirty="0"/>
              <a:t>维持</a:t>
            </a:r>
            <a:r>
              <a:rPr lang="en-US" altLang="zh-CN" dirty="0"/>
              <a:t>15s</a:t>
            </a:r>
          </a:p>
          <a:p>
            <a:pPr algn="ctr"/>
            <a:r>
              <a:rPr lang="zh-CN" altLang="en-US" dirty="0"/>
              <a:t>任意</a:t>
            </a:r>
            <a:r>
              <a:rPr lang="en-US" altLang="zh-CN" dirty="0"/>
              <a:t>15s</a:t>
            </a:r>
            <a:r>
              <a:rPr lang="zh-CN" altLang="en-US" dirty="0"/>
              <a:t>内，允许一次性裁掉</a:t>
            </a:r>
            <a:r>
              <a:rPr lang="en-US" altLang="zh-CN" dirty="0"/>
              <a:t>100%</a:t>
            </a:r>
            <a:r>
              <a:rPr lang="zh-CN" altLang="en-US" dirty="0"/>
              <a:t>闲置</a:t>
            </a:r>
            <a:r>
              <a:rPr lang="en-US" altLang="zh-CN" dirty="0"/>
              <a:t>pod</a:t>
            </a:r>
            <a:r>
              <a:rPr lang="zh-CN" altLang="en-US" dirty="0"/>
              <a:t>（不低于</a:t>
            </a:r>
            <a:r>
              <a:rPr lang="en-US" altLang="zh-CN" dirty="0" err="1"/>
              <a:t>minReplicas</a:t>
            </a:r>
            <a:r>
              <a:rPr lang="zh-CN" altLang="en-US" dirty="0"/>
              <a:t>）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7EDA696-631F-4736-BC02-F6ACFBF6FF28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768958" y="2627290"/>
            <a:ext cx="2550016" cy="30862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73BDAC7-5CFA-4BCF-9D07-99556D9EF2B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572276" y="3850403"/>
            <a:ext cx="1746697" cy="15422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C909D6A-B38F-4445-927E-9721EF6A727E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747752" y="5078387"/>
            <a:ext cx="1571221" cy="6858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B73DC72-4BFD-4FBF-B595-DF84BAC0578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812144" y="6127049"/>
            <a:ext cx="1506829" cy="121888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496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14403-BA3D-4212-9888-980370B2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加入</a:t>
            </a:r>
            <a:r>
              <a:rPr lang="en-US" altLang="zh-CN" dirty="0"/>
              <a:t>HPA——</a:t>
            </a:r>
            <a:r>
              <a:rPr lang="zh-CN" altLang="en-US" dirty="0"/>
              <a:t>运行效果概览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62DD4E8-B2DF-4D9C-B8F9-7FB05F9AC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223" y="1529410"/>
            <a:ext cx="7293734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156B49-6065-484B-9226-B64254A3AD79}"/>
              </a:ext>
            </a:extLst>
          </p:cNvPr>
          <p:cNvSpPr txBox="1"/>
          <p:nvPr/>
        </p:nvSpPr>
        <p:spPr>
          <a:xfrm>
            <a:off x="1730062" y="6123543"/>
            <a:ext cx="873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</a:t>
            </a:r>
            <a:r>
              <a:rPr lang="en-US" altLang="zh-CN" dirty="0" err="1"/>
              <a:t>kubectl</a:t>
            </a:r>
            <a:r>
              <a:rPr lang="en-US" altLang="zh-CN" dirty="0"/>
              <a:t> get </a:t>
            </a:r>
            <a:r>
              <a:rPr lang="en-US" altLang="zh-CN" dirty="0" err="1"/>
              <a:t>hpa</a:t>
            </a:r>
            <a:r>
              <a:rPr lang="zh-CN" altLang="en-US" dirty="0"/>
              <a:t>显示的是上一轮扫描的结果，所以该命令会滞后（</a:t>
            </a:r>
            <a:r>
              <a:rPr lang="en-US" altLang="zh-CN" dirty="0"/>
              <a:t>15s</a:t>
            </a:r>
            <a:r>
              <a:rPr lang="zh-CN" altLang="en-US" dirty="0"/>
              <a:t>一次）</a:t>
            </a:r>
          </a:p>
        </p:txBody>
      </p:sp>
    </p:spTree>
    <p:extLst>
      <p:ext uri="{BB962C8B-B14F-4D97-AF65-F5344CB8AC3E}">
        <p14:creationId xmlns:p14="http://schemas.microsoft.com/office/powerpoint/2010/main" val="94156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8AFFA-A5F6-4DB3-8B6B-21EFDEC3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特殊的配置</a:t>
            </a:r>
            <a:r>
              <a:rPr lang="en-US" altLang="zh-CN" dirty="0"/>
              <a:t>——Pod</a:t>
            </a:r>
            <a:r>
              <a:rPr lang="zh-CN" altLang="en-US" dirty="0"/>
              <a:t>反亲和性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D68770-A5CF-4DC8-B947-4B76EE3C8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066" y="1859491"/>
            <a:ext cx="4457468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F3B3521-8F07-450A-9A00-A9E20C583E8F}"/>
              </a:ext>
            </a:extLst>
          </p:cNvPr>
          <p:cNvSpPr/>
          <p:nvPr/>
        </p:nvSpPr>
        <p:spPr>
          <a:xfrm>
            <a:off x="641558" y="2690382"/>
            <a:ext cx="4177975" cy="119581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EB3B73-CAE2-4122-AEAC-60D8F9D12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57" y="1964303"/>
            <a:ext cx="7198165" cy="23127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B3A9A3F-9859-42C8-82AC-0E473B71C564}"/>
              </a:ext>
            </a:extLst>
          </p:cNvPr>
          <p:cNvSpPr txBox="1"/>
          <p:nvPr/>
        </p:nvSpPr>
        <p:spPr>
          <a:xfrm>
            <a:off x="5190067" y="4487333"/>
            <a:ext cx="5833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hpa</a:t>
            </a:r>
            <a:r>
              <a:rPr lang="zh-CN" altLang="en-US" dirty="0"/>
              <a:t>要求扩容到</a:t>
            </a:r>
            <a:r>
              <a:rPr lang="en-US" altLang="zh-CN" dirty="0"/>
              <a:t>8</a:t>
            </a:r>
            <a:r>
              <a:rPr lang="zh-CN" altLang="en-US" dirty="0"/>
              <a:t>个副本</a:t>
            </a:r>
            <a:endParaRPr lang="en-US" altLang="zh-CN" dirty="0"/>
          </a:p>
          <a:p>
            <a:r>
              <a:rPr lang="en-US" altLang="zh-CN" dirty="0"/>
              <a:t>pod</a:t>
            </a:r>
            <a:r>
              <a:rPr lang="zh-CN" altLang="en-US" dirty="0"/>
              <a:t>反亲和性配置却只能每台机器</a:t>
            </a:r>
            <a:r>
              <a:rPr lang="en-US" altLang="zh-CN" dirty="0"/>
              <a:t>1</a:t>
            </a:r>
            <a:r>
              <a:rPr lang="zh-CN" altLang="en-US" dirty="0"/>
              <a:t>个副本共三个副本，另外</a:t>
            </a:r>
            <a:r>
              <a:rPr lang="en-US" altLang="zh-CN" dirty="0"/>
              <a:t>5</a:t>
            </a:r>
            <a:r>
              <a:rPr lang="zh-CN" altLang="en-US" dirty="0"/>
              <a:t>个会一直</a:t>
            </a:r>
            <a:r>
              <a:rPr lang="en-US" altLang="zh-CN" dirty="0"/>
              <a:t>pending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96DCFA-72C7-49D0-BEF3-B181AF04805B}"/>
              </a:ext>
            </a:extLst>
          </p:cNvPr>
          <p:cNvSpPr/>
          <p:nvPr/>
        </p:nvSpPr>
        <p:spPr>
          <a:xfrm>
            <a:off x="9491132" y="3120676"/>
            <a:ext cx="524935" cy="100259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690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ACC92-C858-4425-9980-02F3EF40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特殊的配置</a:t>
            </a:r>
            <a:r>
              <a:rPr lang="en-US" altLang="zh-CN" dirty="0"/>
              <a:t>——</a:t>
            </a:r>
            <a:r>
              <a:rPr lang="zh-CN" altLang="en-US" dirty="0"/>
              <a:t>拓扑分布约束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BF6B11E-716B-4886-9BFD-E685D29A5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0267" y="1887265"/>
            <a:ext cx="6515000" cy="2089484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4E0622-68D4-4C66-876C-83580AB3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76" y="1621629"/>
            <a:ext cx="5025253" cy="469450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AEEC623-E7AC-415C-B197-C1FEF1A49294}"/>
              </a:ext>
            </a:extLst>
          </p:cNvPr>
          <p:cNvSpPr/>
          <p:nvPr/>
        </p:nvSpPr>
        <p:spPr>
          <a:xfrm>
            <a:off x="838200" y="3647115"/>
            <a:ext cx="3945467" cy="144135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4D39A8-FFB3-495B-B754-A698C42225A0}"/>
              </a:ext>
            </a:extLst>
          </p:cNvPr>
          <p:cNvSpPr/>
          <p:nvPr/>
        </p:nvSpPr>
        <p:spPr>
          <a:xfrm>
            <a:off x="1295400" y="4250267"/>
            <a:ext cx="3217333" cy="237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70D1A8-F473-4228-98C1-AE3682825EE9}"/>
              </a:ext>
            </a:extLst>
          </p:cNvPr>
          <p:cNvSpPr txBox="1"/>
          <p:nvPr/>
        </p:nvSpPr>
        <p:spPr>
          <a:xfrm>
            <a:off x="5520267" y="5194611"/>
            <a:ext cx="65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这里需打开弹性调度，因为主节点不为业务分配</a:t>
            </a:r>
            <a:r>
              <a:rPr lang="en-US" altLang="zh-CN" dirty="0"/>
              <a:t>pod</a:t>
            </a:r>
            <a:r>
              <a:rPr lang="zh-CN" altLang="en-US" dirty="0"/>
              <a:t>，也就是说一定会有</a:t>
            </a:r>
            <a:r>
              <a:rPr lang="en-US" altLang="zh-CN" dirty="0"/>
              <a:t>1</a:t>
            </a:r>
            <a:r>
              <a:rPr lang="zh-CN" altLang="en-US" dirty="0"/>
              <a:t>的差距，</a:t>
            </a:r>
            <a:r>
              <a:rPr lang="en-US" altLang="zh-CN" dirty="0" err="1"/>
              <a:t>ScheduleAnyway</a:t>
            </a:r>
            <a:r>
              <a:rPr lang="zh-CN" altLang="en-US" dirty="0"/>
              <a:t>会强制继续调度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113ED9-4A75-450D-83FD-64F6F6E92F6E}"/>
              </a:ext>
            </a:extLst>
          </p:cNvPr>
          <p:cNvSpPr txBox="1"/>
          <p:nvPr/>
        </p:nvSpPr>
        <p:spPr>
          <a:xfrm>
            <a:off x="5461000" y="4173326"/>
            <a:ext cx="2328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彩蛋：看看运行时间相差了多少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8644AC-EA5E-4C1A-98BC-FBA859CFDFC6}"/>
              </a:ext>
            </a:extLst>
          </p:cNvPr>
          <p:cNvSpPr txBox="1"/>
          <p:nvPr/>
        </p:nvSpPr>
        <p:spPr>
          <a:xfrm>
            <a:off x="8633834" y="4173326"/>
            <a:ext cx="324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拓扑分布约束会尽可能地将</a:t>
            </a:r>
            <a:r>
              <a:rPr lang="en-US" altLang="zh-CN" dirty="0"/>
              <a:t>pod</a:t>
            </a:r>
            <a:r>
              <a:rPr lang="zh-CN" altLang="en-US" dirty="0"/>
              <a:t>打散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1264BC-76AA-46B8-ACE1-B40A39478D95}"/>
              </a:ext>
            </a:extLst>
          </p:cNvPr>
          <p:cNvSpPr/>
          <p:nvPr/>
        </p:nvSpPr>
        <p:spPr>
          <a:xfrm>
            <a:off x="8475133" y="2809515"/>
            <a:ext cx="338667" cy="116723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EDA990-F54F-4CB4-951D-9C022FFE37D4}"/>
              </a:ext>
            </a:extLst>
          </p:cNvPr>
          <p:cNvSpPr/>
          <p:nvPr/>
        </p:nvSpPr>
        <p:spPr>
          <a:xfrm>
            <a:off x="9702799" y="2799063"/>
            <a:ext cx="397934" cy="117768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636CA60-38BA-455B-A6B8-B7838985AF69}"/>
              </a:ext>
            </a:extLst>
          </p:cNvPr>
          <p:cNvCxnSpPr>
            <a:stCxn id="13" idx="2"/>
            <a:endCxn id="11" idx="0"/>
          </p:cNvCxnSpPr>
          <p:nvPr/>
        </p:nvCxnSpPr>
        <p:spPr>
          <a:xfrm flipH="1">
            <a:off x="6625167" y="3976749"/>
            <a:ext cx="2019300" cy="196577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E62C4FE-4FA2-4A06-A83C-295D9A02D6B4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9901766" y="3976749"/>
            <a:ext cx="354113" cy="196577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A7EB88B-4B7E-44D0-8B10-9C4E8C9F34E6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512733" y="4368800"/>
            <a:ext cx="1007534" cy="11489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4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7F35A-AFC9-4A18-8625-47FCCE33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融入</a:t>
            </a:r>
            <a:r>
              <a:rPr lang="en-US" altLang="zh-CN" dirty="0"/>
              <a:t>VPA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83857BB-E3C0-44B4-A478-7D16B4261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362" y="1747039"/>
            <a:ext cx="7336505" cy="4745836"/>
          </a:xfrm>
        </p:spPr>
      </p:pic>
    </p:spTree>
    <p:extLst>
      <p:ext uri="{BB962C8B-B14F-4D97-AF65-F5344CB8AC3E}">
        <p14:creationId xmlns:p14="http://schemas.microsoft.com/office/powerpoint/2010/main" val="2857310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7F35A-AFC9-4A18-8625-47FCCE33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融入</a:t>
            </a:r>
            <a:r>
              <a:rPr lang="en-US" altLang="zh-CN" dirty="0"/>
              <a:t>VPA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304C863-FC33-4B6D-802F-CC98F9FB0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265" y="1427691"/>
            <a:ext cx="4703330" cy="5430309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C564AA-7C14-4BDA-8307-D5991B44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969" y="2167652"/>
            <a:ext cx="6564766" cy="376411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4A1165E-96C5-42C4-9119-574CFB4CFE4C}"/>
              </a:ext>
            </a:extLst>
          </p:cNvPr>
          <p:cNvSpPr/>
          <p:nvPr/>
        </p:nvSpPr>
        <p:spPr>
          <a:xfrm>
            <a:off x="1651002" y="4826000"/>
            <a:ext cx="1176865" cy="2286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AFD5C3-F17E-47E4-B076-C7DE54D57E04}"/>
              </a:ext>
            </a:extLst>
          </p:cNvPr>
          <p:cNvSpPr/>
          <p:nvPr/>
        </p:nvSpPr>
        <p:spPr>
          <a:xfrm>
            <a:off x="6172202" y="2785532"/>
            <a:ext cx="1811865" cy="2370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3D4743-3695-4EC1-B82D-649B6FDB1FBA}"/>
              </a:ext>
            </a:extLst>
          </p:cNvPr>
          <p:cNvSpPr txBox="1"/>
          <p:nvPr/>
        </p:nvSpPr>
        <p:spPr>
          <a:xfrm>
            <a:off x="5774266" y="1427691"/>
            <a:ext cx="573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pod</a:t>
            </a:r>
            <a:r>
              <a:rPr lang="zh-CN" altLang="en-US" dirty="0"/>
              <a:t>的启动时间要早于计算出推荐值的时间（早了</a:t>
            </a:r>
            <a:r>
              <a:rPr lang="en-US" altLang="zh-CN" dirty="0"/>
              <a:t>30s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83828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7F35A-AFC9-4A18-8625-47FCCE33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融入</a:t>
            </a:r>
            <a:r>
              <a:rPr lang="en-US" altLang="zh-CN" dirty="0"/>
              <a:t>VPA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2304C863-FC33-4B6D-802F-CC98F9FB0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265" y="1334557"/>
            <a:ext cx="4703330" cy="5430309"/>
          </a:xfr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C256FD-6B4F-4E93-A71A-9002ABF8741D}"/>
              </a:ext>
            </a:extLst>
          </p:cNvPr>
          <p:cNvGrpSpPr/>
          <p:nvPr/>
        </p:nvGrpSpPr>
        <p:grpSpPr>
          <a:xfrm>
            <a:off x="5541530" y="1334557"/>
            <a:ext cx="5877580" cy="3999346"/>
            <a:chOff x="5476220" y="1927321"/>
            <a:chExt cx="5877580" cy="3999346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73A77A4-C3F8-401D-977C-FDB88756F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6220" y="1927321"/>
              <a:ext cx="5877580" cy="3999346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D6B1C25-3BB3-4EDD-8DF1-A97908B6B39F}"/>
                </a:ext>
              </a:extLst>
            </p:cNvPr>
            <p:cNvSpPr/>
            <p:nvPr/>
          </p:nvSpPr>
          <p:spPr>
            <a:xfrm>
              <a:off x="5647270" y="5088465"/>
              <a:ext cx="999064" cy="347135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27B7DA93-F3D4-4A78-8B19-19EF18F41341}"/>
              </a:ext>
            </a:extLst>
          </p:cNvPr>
          <p:cNvSpPr/>
          <p:nvPr/>
        </p:nvSpPr>
        <p:spPr>
          <a:xfrm>
            <a:off x="440271" y="5088465"/>
            <a:ext cx="1422395" cy="167640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7441D9-4322-48AE-B3A5-7618D6500109}"/>
              </a:ext>
            </a:extLst>
          </p:cNvPr>
          <p:cNvSpPr txBox="1"/>
          <p:nvPr/>
        </p:nvSpPr>
        <p:spPr>
          <a:xfrm>
            <a:off x="5143601" y="5571067"/>
            <a:ext cx="7217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Lower Bound: Upper Bound		</a:t>
            </a:r>
            <a:r>
              <a:rPr lang="zh-CN" altLang="en-US" dirty="0"/>
              <a:t>上下界</a:t>
            </a:r>
            <a:endParaRPr lang="en-US" altLang="zh-CN" dirty="0"/>
          </a:p>
          <a:p>
            <a:r>
              <a:rPr lang="en-US" altLang="zh-CN" dirty="0"/>
              <a:t>Target				VPA</a:t>
            </a:r>
            <a:r>
              <a:rPr lang="zh-CN" altLang="en-US" dirty="0"/>
              <a:t>推荐的资源大小</a:t>
            </a:r>
            <a:endParaRPr lang="en-US" altLang="zh-CN" dirty="0"/>
          </a:p>
          <a:p>
            <a:r>
              <a:rPr lang="en-US" altLang="zh-CN" dirty="0"/>
              <a:t>Uncapped Target			</a:t>
            </a:r>
            <a:r>
              <a:rPr lang="zh-CN" altLang="en-US" dirty="0"/>
              <a:t>没有</a:t>
            </a:r>
            <a:r>
              <a:rPr lang="en-US" altLang="zh-CN" dirty="0" err="1"/>
              <a:t>vpa</a:t>
            </a:r>
            <a:r>
              <a:rPr lang="zh-CN" altLang="en-US" dirty="0"/>
              <a:t>配置本来的推荐资源大小</a:t>
            </a:r>
            <a:endParaRPr lang="en-US" altLang="zh-CN" dirty="0"/>
          </a:p>
          <a:p>
            <a:r>
              <a:rPr lang="en-US" altLang="zh-CN" dirty="0"/>
              <a:t>1Cpu: 1000mili </a:t>
            </a:r>
            <a:r>
              <a:rPr lang="en-US" altLang="zh-CN" dirty="0" err="1"/>
              <a:t>Cpu</a:t>
            </a:r>
            <a:r>
              <a:rPr lang="en-US" altLang="zh-CN" dirty="0"/>
              <a:t>    1Mi=1024*1024Bytes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559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5587D-00E5-4B88-ADB7-E0AEE089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融入</a:t>
            </a:r>
            <a:r>
              <a:rPr lang="en-US" altLang="zh-CN" dirty="0"/>
              <a:t>VPA</a:t>
            </a:r>
            <a:r>
              <a:rPr lang="zh-CN" altLang="en-US" dirty="0"/>
              <a:t>（较为直观的流程）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36351-55E4-4288-AFE6-5AD56315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先运行</a:t>
            </a:r>
            <a:r>
              <a:rPr lang="en-US" altLang="zh-CN" dirty="0"/>
              <a:t>game</a:t>
            </a:r>
            <a:r>
              <a:rPr lang="zh-CN" altLang="en-US" dirty="0"/>
              <a:t>与负载</a:t>
            </a:r>
            <a:r>
              <a:rPr lang="en-US" altLang="zh-CN" dirty="0"/>
              <a:t>(</a:t>
            </a:r>
            <a:r>
              <a:rPr lang="en-US" altLang="zh-CN" dirty="0" err="1"/>
              <a:t>kubectl</a:t>
            </a:r>
            <a:r>
              <a:rPr lang="en-US" altLang="zh-CN" dirty="0"/>
              <a:t> top pod</a:t>
            </a:r>
            <a:r>
              <a:rPr lang="zh-CN" altLang="en-US" dirty="0"/>
              <a:t>可查看负载情况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再运行</a:t>
            </a:r>
            <a:r>
              <a:rPr lang="en-US" altLang="zh-CN" dirty="0" err="1"/>
              <a:t>vpa</a:t>
            </a:r>
            <a:r>
              <a:rPr lang="zh-CN" altLang="en-US" dirty="0"/>
              <a:t>查看配置信息</a:t>
            </a:r>
            <a:r>
              <a:rPr lang="en-US" altLang="zh-CN" dirty="0"/>
              <a:t>(watch -n 2 </a:t>
            </a:r>
            <a:r>
              <a:rPr lang="en-US" altLang="zh-CN" dirty="0" err="1"/>
              <a:t>kubectl</a:t>
            </a:r>
            <a:r>
              <a:rPr lang="en-US" altLang="zh-CN" dirty="0"/>
              <a:t> describe </a:t>
            </a:r>
            <a:r>
              <a:rPr lang="en-US" altLang="zh-CN" dirty="0" err="1"/>
              <a:t>vpa</a:t>
            </a:r>
            <a:r>
              <a:rPr lang="en-US" altLang="zh-CN" dirty="0"/>
              <a:t> game-</a:t>
            </a:r>
            <a:r>
              <a:rPr lang="en-US" altLang="zh-CN" dirty="0" err="1"/>
              <a:t>vpa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更改副本数量：</a:t>
            </a:r>
            <a:r>
              <a:rPr lang="en-US" altLang="zh-CN" dirty="0" err="1"/>
              <a:t>kubectl</a:t>
            </a:r>
            <a:r>
              <a:rPr lang="en-US" altLang="zh-CN" dirty="0"/>
              <a:t> scale deploy game --replicas=2</a:t>
            </a:r>
          </a:p>
          <a:p>
            <a:r>
              <a:rPr lang="zh-CN" altLang="en-US" dirty="0"/>
              <a:t>第一个</a:t>
            </a:r>
            <a:r>
              <a:rPr lang="en-US" altLang="zh-CN" dirty="0"/>
              <a:t>pod</a:t>
            </a:r>
            <a:r>
              <a:rPr lang="zh-CN" altLang="en-US" dirty="0"/>
              <a:t>会被删除重建（</a:t>
            </a:r>
            <a:r>
              <a:rPr lang="en-US" altLang="zh-CN" dirty="0" err="1"/>
              <a:t>vpa</a:t>
            </a:r>
            <a:r>
              <a:rPr lang="zh-CN" altLang="en-US" dirty="0"/>
              <a:t>较为保守，需要高压十几分钟才能真正将高流量常态化，而不是当作瞬时的流量）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1097ED2-876D-4EB7-B0C5-0F62021C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50904"/>
            <a:ext cx="6885714" cy="7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DBDA55-7641-4555-92DC-75CCFDA71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00219"/>
            <a:ext cx="6904762" cy="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20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85B4A-B461-4BE1-AC02-CAD697B3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无状态网关</a:t>
            </a:r>
            <a:r>
              <a:rPr lang="en-US" altLang="zh-CN" dirty="0"/>
              <a:t>——</a:t>
            </a:r>
            <a:r>
              <a:rPr lang="en-US" altLang="zh-CN" dirty="0" err="1"/>
              <a:t>redis</a:t>
            </a:r>
            <a:r>
              <a:rPr lang="zh-CN" altLang="en-US" dirty="0"/>
              <a:t>相关配置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DD56696-ECBA-4DDA-AB8F-728BC4539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9297"/>
            <a:ext cx="2521766" cy="518640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003181-8DAB-4716-AB2E-A1BDD6F95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372" y="1449297"/>
            <a:ext cx="3211625" cy="5272353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1394705-5817-4700-BFB4-8AB72D7000D1}"/>
              </a:ext>
            </a:extLst>
          </p:cNvPr>
          <p:cNvCxnSpPr/>
          <p:nvPr/>
        </p:nvCxnSpPr>
        <p:spPr>
          <a:xfrm>
            <a:off x="2683933" y="2218267"/>
            <a:ext cx="3886200" cy="304800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964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4A7D6-2C6A-4539-B209-35BC8642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无状态网关</a:t>
            </a:r>
            <a:r>
              <a:rPr lang="en-US" altLang="zh-CN" dirty="0"/>
              <a:t>——</a:t>
            </a:r>
            <a:r>
              <a:rPr lang="zh-CN" altLang="en-US" dirty="0"/>
              <a:t>心跳逻辑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E6D91F7-42FB-442E-B596-5AC371EB3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647" y="2624579"/>
            <a:ext cx="7561905" cy="2838095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592BB26-6AF3-4318-ABA3-F5AD1747A3C7}"/>
              </a:ext>
            </a:extLst>
          </p:cNvPr>
          <p:cNvSpPr txBox="1"/>
          <p:nvPr/>
        </p:nvSpPr>
        <p:spPr>
          <a:xfrm>
            <a:off x="8141285" y="3120296"/>
            <a:ext cx="38608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HINCRBY key field value </a:t>
            </a:r>
            <a:r>
              <a:rPr lang="zh-CN" altLang="en-US" dirty="0"/>
              <a:t>哈希表中的对应的数值</a:t>
            </a:r>
            <a:r>
              <a:rPr lang="en-US" altLang="zh-CN" dirty="0"/>
              <a:t>+value</a:t>
            </a:r>
          </a:p>
          <a:p>
            <a:r>
              <a:rPr lang="en-US" altLang="zh-CN" dirty="0"/>
              <a:t>HSET key field value </a:t>
            </a:r>
            <a:r>
              <a:rPr lang="zh-CN" altLang="en-US" dirty="0"/>
              <a:t>设置哈希表的值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在这里哈希表的</a:t>
            </a:r>
            <a:r>
              <a:rPr lang="en-US" altLang="zh-CN" dirty="0"/>
              <a:t>key</a:t>
            </a:r>
            <a:r>
              <a:rPr lang="zh-CN" altLang="en-US" dirty="0"/>
              <a:t>值可以简单的视为</a:t>
            </a:r>
            <a:r>
              <a:rPr lang="en-US" altLang="zh-CN" dirty="0"/>
              <a:t>token</a:t>
            </a:r>
            <a:r>
              <a:rPr lang="zh-CN" altLang="en-US" dirty="0"/>
              <a:t>（实际中会使用更复杂的技术）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BF54970-D567-4E2F-9DDF-9A99DC743C86}"/>
              </a:ext>
            </a:extLst>
          </p:cNvPr>
          <p:cNvCxnSpPr/>
          <p:nvPr/>
        </p:nvCxnSpPr>
        <p:spPr>
          <a:xfrm flipV="1">
            <a:off x="6316133" y="3429000"/>
            <a:ext cx="193040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DFD2CB-D7D5-4382-B1A3-82A6404B6740}"/>
              </a:ext>
            </a:extLst>
          </p:cNvPr>
          <p:cNvCxnSpPr/>
          <p:nvPr/>
        </p:nvCxnSpPr>
        <p:spPr>
          <a:xfrm flipV="1">
            <a:off x="6570133" y="3979333"/>
            <a:ext cx="1676400" cy="855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300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EE4B6-5A3A-4480-8E33-E8D73BF8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无状态网关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18C9C4D-89EF-49BB-B580-F75640965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927799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98D744-6AB2-47CB-B15E-F9E0AF05A720}"/>
              </a:ext>
            </a:extLst>
          </p:cNvPr>
          <p:cNvSpPr txBox="1"/>
          <p:nvPr/>
        </p:nvSpPr>
        <p:spPr>
          <a:xfrm>
            <a:off x="838200" y="5167312"/>
            <a:ext cx="6536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获取</a:t>
            </a:r>
            <a:r>
              <a:rPr lang="en-US" altLang="zh-CN" dirty="0"/>
              <a:t>key</a:t>
            </a:r>
            <a:r>
              <a:rPr lang="zh-CN" altLang="en-US" dirty="0"/>
              <a:t>为</a:t>
            </a:r>
            <a:r>
              <a:rPr lang="en-US" altLang="zh-CN" dirty="0"/>
              <a:t>session:student-1-token</a:t>
            </a:r>
            <a:r>
              <a:rPr lang="zh-CN" altLang="en-US" dirty="0"/>
              <a:t>的哈希表（获取</a:t>
            </a:r>
            <a:r>
              <a:rPr lang="en-US" altLang="zh-CN" dirty="0"/>
              <a:t>token</a:t>
            </a:r>
            <a:r>
              <a:rPr lang="zh-CN" altLang="en-US" dirty="0"/>
              <a:t>的状态）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DB016CA-38A3-4D35-90EC-A88B1542C0E4}"/>
              </a:ext>
            </a:extLst>
          </p:cNvPr>
          <p:cNvCxnSpPr/>
          <p:nvPr/>
        </p:nvCxnSpPr>
        <p:spPr>
          <a:xfrm>
            <a:off x="3039533" y="2133600"/>
            <a:ext cx="0" cy="30337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569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D99AF-1613-46CB-9F31-1DDF604A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无状态网关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0132492-C5AB-44D3-93F3-FF5916D56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950"/>
            <a:ext cx="10515600" cy="4332687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5D84115-4E84-40B1-946E-0D4205D9F9E9}"/>
              </a:ext>
            </a:extLst>
          </p:cNvPr>
          <p:cNvSpPr/>
          <p:nvPr/>
        </p:nvSpPr>
        <p:spPr>
          <a:xfrm>
            <a:off x="5799667" y="3429000"/>
            <a:ext cx="533400" cy="24553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5F1AF9-5143-41BC-B3DB-615B538C1FBC}"/>
              </a:ext>
            </a:extLst>
          </p:cNvPr>
          <p:cNvSpPr/>
          <p:nvPr/>
        </p:nvSpPr>
        <p:spPr>
          <a:xfrm>
            <a:off x="5829300" y="4114800"/>
            <a:ext cx="533400" cy="245533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75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1066</Words>
  <Application>Microsoft Office PowerPoint</Application>
  <PresentationFormat>宽屏</PresentationFormat>
  <Paragraphs>119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k8s使用</vt:lpstr>
      <vt:lpstr>Docker：对污染环境say no</vt:lpstr>
      <vt:lpstr>Docker：快速启动测试沙盒</vt:lpstr>
      <vt:lpstr>k8s镜像——本地镜像配置(docker registry)</vt:lpstr>
      <vt:lpstr>Docker compose</vt:lpstr>
      <vt:lpstr>k8s镜像</vt:lpstr>
      <vt:lpstr>k8s镜像——containerd镜像配置</vt:lpstr>
      <vt:lpstr>k8s基本操作——kubeadm</vt:lpstr>
      <vt:lpstr>k8s基本操作——kubectl</vt:lpstr>
      <vt:lpstr>k8s配置文件解析——deployment</vt:lpstr>
      <vt:lpstr>k8s配置文件解析——Service</vt:lpstr>
      <vt:lpstr>加入HPA——对pod做出限制</vt:lpstr>
      <vt:lpstr>加入HPA——加入autoscale</vt:lpstr>
      <vt:lpstr>加入HPA——运行效果概览</vt:lpstr>
      <vt:lpstr>特殊的配置——Pod反亲和性</vt:lpstr>
      <vt:lpstr>特殊的配置——拓扑分布约束</vt:lpstr>
      <vt:lpstr>融入VPA</vt:lpstr>
      <vt:lpstr>融入VPA</vt:lpstr>
      <vt:lpstr>融入VPA</vt:lpstr>
      <vt:lpstr>融入VPA（较为直观的流程）</vt:lpstr>
      <vt:lpstr>无状态网关——redis相关配置</vt:lpstr>
      <vt:lpstr>无状态网关——心跳逻辑</vt:lpstr>
      <vt:lpstr>无状态网关</vt:lpstr>
      <vt:lpstr>无状态网关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k8s使用</dc:title>
  <dc:creator>文举 胡</dc:creator>
  <cp:lastModifiedBy>文举 胡</cp:lastModifiedBy>
  <cp:revision>79</cp:revision>
  <dcterms:created xsi:type="dcterms:W3CDTF">2026-05-20T14:28:27Z</dcterms:created>
  <dcterms:modified xsi:type="dcterms:W3CDTF">2026-05-21T14:58:33Z</dcterms:modified>
</cp:coreProperties>
</file>